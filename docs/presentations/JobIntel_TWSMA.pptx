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Average characters</c:v>
                </c:pt>
              </c:strCache>
            </c:strRef>
          </c:tx>
          <c:spPr>
            <a:solidFill>
              <a:srgbClr val="0E9AA7"/>
            </a:solidFill>
            <a:effectLst/>
          </c:spPr>
          <c:invertIfNegative val="0"/>
          <c:dLbls>
            <c:numFmt formatCode="#,##0" sourceLinked="0"/>
            <c:txPr>
              <a:bodyPr/>
              <a:lstStyle/>
              <a:p>
                <a:pPr>
                  <a:defRPr b="0" i="0" strike="noStrike" sz="1200" u="none">
                    <a:solidFill>
                      <a:srgbClr val="1B2733"/>
                    </a:solidFill>
                    <a:latin typeface="+mn-lt"/>
                  </a:defRPr>
                </a:pPr>
              </a:p>
            </c:txPr>
            <c:showLegendKey val="0"/>
            <c:showVal val="1"/>
            <c:showCatName val="0"/>
            <c:showSerName val="0"/>
            <c:showPercent val="0"/>
            <c:showBubbleSize val="0"/>
            <c:showLeaderLines val="0"/>
          </c:dLbls>
          <c:cat>
            <c:multiLvlStrRef>
              <c:f>Sheet1!$A$2:$A$4</c:f>
              <c:multiLvlStrCache>
                <c:ptCount val="3"/>
                <c:lvl>
                  <c:pt idx="0">
                    <c:v>Adzuna</c:v>
                  </c:pt>
                  <c:pt idx="1">
                    <c:v>Greenhouse</c:v>
                  </c:pt>
                  <c:pt idx="2">
                    <c:v>Lever</c:v>
                  </c:pt>
                </c:lvl>
              </c:multiLvlStrCache>
            </c:multiLvlStrRef>
          </c:cat>
          <c:val>
            <c:numRef>
              <c:f>Sheet1!$B$2:$B$4</c:f>
              <c:numCache>
                <c:formatCode>General</c:formatCode>
                <c:ptCount val="3"/>
                <c:pt idx="0">
                  <c:v>489</c:v>
                </c:pt>
                <c:pt idx="1">
                  <c:v>5817</c:v>
                </c:pt>
                <c:pt idx="2">
                  <c:v>4392</c:v>
                </c:pt>
              </c:numCache>
            </c:numRef>
          </c:val>
        </c:ser>
        <c:dLbls>
          <c:numFmt formatCode="#,##0" sourceLinked="0"/>
          <c:txPr>
            <a:bodyPr/>
            <a:lstStyle/>
            <a:p>
              <a:pPr>
                <a:defRPr b="0" i="0" strike="noStrike" sz="1200" u="none">
                  <a:solidFill>
                    <a:srgbClr val="1B27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733"/>
                </a:solidFill>
                <a:latin typeface="+mn-lt"/>
              </a:defRPr>
            </a:pPr>
            <a:endParaRPr lang="en-US"/>
          </a:p>
        </c:txPr>
        <c:crossAx val="2094734552"/>
        <c:crosses val="autoZero"/>
        <c:auto val="1"/>
        <c:lblAlgn val="ctr"/>
        <c:noMultiLvlLbl val="1"/>
      </c:catAx>
      <c:valAx>
        <c:axId val="2094734552"/>
        <c:scaling>
          <c:orientation val="minMax"/>
          <c:max val="70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70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Postings</c:v>
                </c:pt>
              </c:strCache>
            </c:strRef>
          </c:tx>
          <c:spPr>
            <a:solidFill>
              <a:srgbClr val="7BB8B0"/>
            </a:solidFill>
            <a:effectLst/>
          </c:spPr>
          <c:invertIfNegative val="0"/>
          <c:dLbls>
            <c:numFmt formatCode="#,##0" sourceLinked="0"/>
            <c:txPr>
              <a:bodyPr/>
              <a:lstStyle/>
              <a:p>
                <a:pPr>
                  <a:defRPr b="0" i="0" strike="noStrike" sz="1200" u="none">
                    <a:solidFill>
                      <a:srgbClr val="1B2733"/>
                    </a:solidFill>
                    <a:latin typeface="+mn-lt"/>
                  </a:defRPr>
                </a:pPr>
              </a:p>
            </c:txPr>
            <c:showLegendKey val="0"/>
            <c:showVal val="1"/>
            <c:showCatName val="0"/>
            <c:showSerName val="0"/>
            <c:showPercent val="0"/>
            <c:showBubbleSize val="0"/>
            <c:showLeaderLines val="0"/>
          </c:dLbls>
          <c:dPt>
            <c:idx val="0"/>
            <c:invertIfNegative val="0"/>
            <c:bubble3D val="0"/>
            <c:spPr>
              <a:solidFill>
                <a:srgbClr val="7BB8B0"/>
              </a:solidFill>
              <a:effectLst/>
            </c:spPr>
          </c:dPt>
          <c:dPt>
            <c:idx val="1"/>
            <c:invertIfNegative val="0"/>
            <c:bubble3D val="0"/>
            <c:spPr>
              <a:solidFill>
                <a:srgbClr val="0E9AA7"/>
              </a:solidFill>
              <a:effectLst/>
            </c:spPr>
          </c:dPt>
          <c:dPt>
            <c:idx val="2"/>
            <c:invertIfNegative val="0"/>
            <c:bubble3D val="0"/>
            <c:spPr>
              <a:solidFill>
                <a:srgbClr val="0E9AA7"/>
              </a:solidFill>
              <a:effectLst/>
            </c:spPr>
          </c:dPt>
          <c:dPt>
            <c:idx val="3"/>
            <c:invertIfNegative val="0"/>
            <c:bubble3D val="0"/>
            <c:spPr>
              <a:solidFill>
                <a:srgbClr val="7BB8B0"/>
              </a:solidFill>
              <a:effectLst/>
            </c:spPr>
          </c:dPt>
          <c:dPt>
            <c:idx val="4"/>
            <c:invertIfNegative val="0"/>
            <c:bubble3D val="0"/>
            <c:spPr>
              <a:solidFill>
                <a:srgbClr val="0E9AA7"/>
              </a:solidFill>
              <a:effectLst/>
            </c:spPr>
          </c:dPt>
          <c:dPt>
            <c:idx val="5"/>
            <c:invertIfNegative val="0"/>
            <c:bubble3D val="0"/>
            <c:spPr>
              <a:solidFill>
                <a:srgbClr val="0E9AA7"/>
              </a:solidFill>
              <a:effectLst/>
            </c:spPr>
          </c:dPt>
          <c:dPt>
            <c:idx val="6"/>
            <c:invertIfNegative val="0"/>
            <c:bubble3D val="0"/>
            <c:spPr>
              <a:solidFill>
                <a:srgbClr val="0E9AA7"/>
              </a:solidFill>
              <a:effectLst/>
            </c:spPr>
          </c:dPt>
          <c:dPt>
            <c:idx val="7"/>
            <c:invertIfNegative val="0"/>
            <c:bubble3D val="0"/>
            <c:spPr>
              <a:solidFill>
                <a:srgbClr val="0E9AA7"/>
              </a:solidFill>
              <a:effectLst/>
            </c:spPr>
          </c:dPt>
          <c:dPt>
            <c:idx val="8"/>
            <c:invertIfNegative val="0"/>
            <c:bubble3D val="0"/>
            <c:spPr>
              <a:solidFill>
                <a:srgbClr val="0E9AA7"/>
              </a:solidFill>
              <a:effectLst/>
            </c:spPr>
          </c:dPt>
          <c:dPt>
            <c:idx val="9"/>
            <c:invertIfNegative val="0"/>
            <c:bubble3D val="0"/>
            <c:spPr>
              <a:solidFill>
                <a:srgbClr val="0E9AA7"/>
              </a:solidFill>
              <a:effectLst/>
            </c:spPr>
          </c:dPt>
          <c:dPt>
            <c:idx val="10"/>
            <c:invertIfNegative val="0"/>
            <c:bubble3D val="0"/>
            <c:spPr>
              <a:solidFill>
                <a:srgbClr val="F2A541"/>
              </a:solidFill>
              <a:effectLst/>
            </c:spPr>
          </c:dPt>
          <c:dPt>
            <c:idx val="11"/>
            <c:invertIfNegative val="0"/>
            <c:bubble3D val="0"/>
            <c:spPr>
              <a:solidFill>
                <a:srgbClr val="0E9AA7"/>
              </a:solidFill>
              <a:effectLst/>
            </c:spPr>
          </c:dPt>
          <c:cat>
            <c:multiLvlStrRef>
              <c:f>Sheet1!$A$2:$A$13</c:f>
              <c:multiLvlStrCache>
                <c:ptCount val="12"/>
                <c:lvl>
                  <c:pt idx="0">
                    <c:v>Communication</c:v>
                  </c:pt>
                  <c:pt idx="1">
                    <c:v>Machine Learning</c:v>
                  </c:pt>
                  <c:pt idx="2">
                    <c:v>Python</c:v>
                  </c:pt>
                  <c:pt idx="3">
                    <c:v>Leadership</c:v>
                  </c:pt>
                  <c:pt idx="4">
                    <c:v>AWS</c:v>
                  </c:pt>
                  <c:pt idx="5">
                    <c:v>SQL</c:v>
                  </c:pt>
                  <c:pt idx="6">
                    <c:v>Azure</c:v>
                  </c:pt>
                  <c:pt idx="7">
                    <c:v>Javascript</c:v>
                  </c:pt>
                  <c:pt idx="8">
                    <c:v>GCP</c:v>
                  </c:pt>
                  <c:pt idx="9">
                    <c:v>Java</c:v>
                  </c:pt>
                  <c:pt idx="10">
                    <c:v>Data Science</c:v>
                  </c:pt>
                  <c:pt idx="11">
                    <c:v>CI/CD</c:v>
                  </c:pt>
                </c:lvl>
              </c:multiLvlStrCache>
            </c:multiLvlStrRef>
          </c:cat>
          <c:val>
            <c:numRef>
              <c:f>Sheet1!$B$2:$B$13</c:f>
              <c:numCache>
                <c:formatCode>General</c:formatCode>
                <c:ptCount val="12"/>
                <c:pt idx="0">
                  <c:v>509</c:v>
                </c:pt>
                <c:pt idx="1">
                  <c:v>457</c:v>
                </c:pt>
                <c:pt idx="2">
                  <c:v>376</c:v>
                </c:pt>
                <c:pt idx="3">
                  <c:v>373</c:v>
                </c:pt>
                <c:pt idx="4">
                  <c:v>350</c:v>
                </c:pt>
                <c:pt idx="5">
                  <c:v>342</c:v>
                </c:pt>
                <c:pt idx="6">
                  <c:v>238</c:v>
                </c:pt>
                <c:pt idx="7">
                  <c:v>237</c:v>
                </c:pt>
                <c:pt idx="8">
                  <c:v>224</c:v>
                </c:pt>
                <c:pt idx="9">
                  <c:v>203</c:v>
                </c:pt>
                <c:pt idx="10">
                  <c:v>195</c:v>
                </c:pt>
                <c:pt idx="11">
                  <c:v>194</c:v>
                </c:pt>
              </c:numCache>
            </c:numRef>
          </c:val>
        </c:ser>
        <c:dLbls>
          <c:numFmt formatCode="#,##0" sourceLinked="0"/>
          <c:txPr>
            <a:bodyPr/>
            <a:lstStyle/>
            <a:p>
              <a:pPr>
                <a:defRPr b="0" i="0" strike="noStrike" sz="1200" u="none">
                  <a:solidFill>
                    <a:srgbClr val="1B27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733"/>
                </a:solidFill>
                <a:latin typeface="+mn-lt"/>
              </a:defRPr>
            </a:pPr>
            <a:endParaRPr lang="en-US"/>
          </a:p>
        </c:txPr>
        <c:crossAx val="2094734552"/>
        <c:crosses val="autoZero"/>
        <c:auto val="1"/>
        <c:lblAlgn val="ctr"/>
        <c:noMultiLvlLbl val="1"/>
      </c:catAx>
      <c:valAx>
        <c:axId val="2094734552"/>
        <c:scaling>
          <c:orientation val="minMax"/>
          <c:max val="6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70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Data &amp; Analytics</c:v>
                </c:pt>
              </c:strCache>
            </c:strRef>
          </c:tx>
          <c:spPr>
            <a:solidFill>
              <a:srgbClr val="0E9AA7"/>
            </a:solidFill>
            <a:effectLst/>
          </c:spPr>
          <c:invertIfNegative val="0"/>
          <c:dLbls>
            <c:numFmt formatCode="0.0&quot;%&quot;" sourceLinked="0"/>
            <c:txPr>
              <a:bodyPr/>
              <a:lstStyle/>
              <a:p>
                <a:pPr>
                  <a:defRPr b="0" i="0" strike="noStrike" sz="1200" u="none">
                    <a:solidFill>
                      <a:srgbClr val="1B2733"/>
                    </a:solidFill>
                    <a:latin typeface="+mn-lt"/>
                  </a:defRPr>
                </a:pPr>
              </a:p>
            </c:txPr>
            <c:showLegendKey val="0"/>
            <c:showVal val="1"/>
            <c:showCatName val="0"/>
            <c:showSerName val="0"/>
            <c:showPercent val="0"/>
            <c:showBubbleSize val="0"/>
            <c:showLeaderLines val="0"/>
          </c:dLbls>
          <c:cat>
            <c:multiLvlStrRef>
              <c:f>Sheet1!$A$2:$A$6</c:f>
              <c:multiLvlStrCache>
                <c:ptCount val="5"/>
                <c:lvl>
                  <c:pt idx="0">
                    <c:v>SQL</c:v>
                  </c:pt>
                  <c:pt idx="1">
                    <c:v>ETL</c:v>
                  </c:pt>
                  <c:pt idx="2">
                    <c:v>Python</c:v>
                  </c:pt>
                  <c:pt idx="3">
                    <c:v>Data Analysis</c:v>
                  </c:pt>
                  <c:pt idx="4">
                    <c:v>Data Engineering</c:v>
                  </c:pt>
                </c:lvl>
              </c:multiLvlStrCache>
            </c:multiLvlStrRef>
          </c:cat>
          <c:val>
            <c:numRef>
              <c:f>Sheet1!$B$2:$B$6</c:f>
              <c:numCache>
                <c:formatCode>General</c:formatCode>
                <c:ptCount val="5"/>
                <c:pt idx="0">
                  <c:v>21.35</c:v>
                </c:pt>
                <c:pt idx="1">
                  <c:v>15.51</c:v>
                </c:pt>
                <c:pt idx="2">
                  <c:v>15.36</c:v>
                </c:pt>
                <c:pt idx="3">
                  <c:v>11.52</c:v>
                </c:pt>
                <c:pt idx="4">
                  <c:v>11.52</c:v>
                </c:pt>
              </c:numCache>
            </c:numRef>
          </c:val>
        </c:ser>
        <c:dLbls>
          <c:numFmt formatCode="0.0&quot;%&quot;" sourceLinked="0"/>
          <c:txPr>
            <a:bodyPr/>
            <a:lstStyle/>
            <a:p>
              <a:pPr>
                <a:defRPr b="0" i="0" strike="noStrike" sz="1200" u="none">
                  <a:solidFill>
                    <a:srgbClr val="1B27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733"/>
                </a:solidFill>
                <a:latin typeface="+mn-lt"/>
              </a:defRPr>
            </a:pPr>
            <a:endParaRPr lang="en-US"/>
          </a:p>
        </c:txPr>
        <c:crossAx val="2094734552"/>
        <c:crosses val="autoZero"/>
        <c:auto val="1"/>
        <c:lblAlgn val="ctr"/>
        <c:noMultiLvlLbl val="1"/>
      </c:catAx>
      <c:valAx>
        <c:axId val="2094734552"/>
        <c:scaling>
          <c:orientation val="minMax"/>
          <c:max val="8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70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AI &amp; Machine Learning</c:v>
                </c:pt>
              </c:strCache>
            </c:strRef>
          </c:tx>
          <c:spPr>
            <a:solidFill>
              <a:srgbClr val="3F7CAC"/>
            </a:solidFill>
            <a:effectLst/>
          </c:spPr>
          <c:invertIfNegative val="0"/>
          <c:dLbls>
            <c:numFmt formatCode="0.0&quot;%&quot;" sourceLinked="0"/>
            <c:txPr>
              <a:bodyPr/>
              <a:lstStyle/>
              <a:p>
                <a:pPr>
                  <a:defRPr b="0" i="0" strike="noStrike" sz="1200" u="none">
                    <a:solidFill>
                      <a:srgbClr val="1B2733"/>
                    </a:solidFill>
                    <a:latin typeface="+mn-lt"/>
                  </a:defRPr>
                </a:pPr>
              </a:p>
            </c:txPr>
            <c:showLegendKey val="0"/>
            <c:showVal val="1"/>
            <c:showCatName val="0"/>
            <c:showSerName val="0"/>
            <c:showPercent val="0"/>
            <c:showBubbleSize val="0"/>
            <c:showLeaderLines val="0"/>
          </c:dLbls>
          <c:cat>
            <c:multiLvlStrRef>
              <c:f>Sheet1!$A$2:$A$6</c:f>
              <c:multiLvlStrCache>
                <c:ptCount val="5"/>
                <c:lvl>
                  <c:pt idx="0">
                    <c:v>Machine Learning</c:v>
                  </c:pt>
                  <c:pt idx="1">
                    <c:v>Data Science</c:v>
                  </c:pt>
                  <c:pt idx="2">
                    <c:v>Python</c:v>
                  </c:pt>
                  <c:pt idx="3">
                    <c:v>NLP</c:v>
                  </c:pt>
                  <c:pt idx="4">
                    <c:v>Statistics</c:v>
                  </c:pt>
                </c:lvl>
              </c:multiLvlStrCache>
            </c:multiLvlStrRef>
          </c:cat>
          <c:val>
            <c:numRef>
              <c:f>Sheet1!$B$2:$B$6</c:f>
              <c:numCache>
                <c:formatCode>General</c:formatCode>
                <c:ptCount val="5"/>
                <c:pt idx="0">
                  <c:v>64.99</c:v>
                </c:pt>
                <c:pt idx="1">
                  <c:v>31.49</c:v>
                </c:pt>
                <c:pt idx="2">
                  <c:v>18.89</c:v>
                </c:pt>
                <c:pt idx="3">
                  <c:v>16.12</c:v>
                </c:pt>
                <c:pt idx="4">
                  <c:v>12.34</c:v>
                </c:pt>
              </c:numCache>
            </c:numRef>
          </c:val>
        </c:ser>
        <c:dLbls>
          <c:numFmt formatCode="0.0&quot;%&quot;" sourceLinked="0"/>
          <c:txPr>
            <a:bodyPr/>
            <a:lstStyle/>
            <a:p>
              <a:pPr>
                <a:defRPr b="0" i="0" strike="noStrike" sz="1200" u="none">
                  <a:solidFill>
                    <a:srgbClr val="1B27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733"/>
                </a:solidFill>
                <a:latin typeface="+mn-lt"/>
              </a:defRPr>
            </a:pPr>
            <a:endParaRPr lang="en-US"/>
          </a:p>
        </c:txPr>
        <c:crossAx val="2094734552"/>
        <c:crosses val="autoZero"/>
        <c:auto val="1"/>
        <c:lblAlgn val="ctr"/>
        <c:noMultiLvlLbl val="1"/>
      </c:catAx>
      <c:valAx>
        <c:axId val="2094734552"/>
        <c:scaling>
          <c:orientation val="minMax"/>
          <c:max val="8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70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Software Engineering</c:v>
                </c:pt>
              </c:strCache>
            </c:strRef>
          </c:tx>
          <c:spPr>
            <a:solidFill>
              <a:srgbClr val="7BB8B0"/>
            </a:solidFill>
            <a:effectLst/>
          </c:spPr>
          <c:invertIfNegative val="0"/>
          <c:dLbls>
            <c:numFmt formatCode="0.0&quot;%&quot;" sourceLinked="0"/>
            <c:txPr>
              <a:bodyPr/>
              <a:lstStyle/>
              <a:p>
                <a:pPr>
                  <a:defRPr b="0" i="0" strike="noStrike" sz="1200" u="none">
                    <a:solidFill>
                      <a:srgbClr val="1B2733"/>
                    </a:solidFill>
                    <a:latin typeface="+mn-lt"/>
                  </a:defRPr>
                </a:pPr>
              </a:p>
            </c:txPr>
            <c:showLegendKey val="0"/>
            <c:showVal val="1"/>
            <c:showCatName val="0"/>
            <c:showSerName val="0"/>
            <c:showPercent val="0"/>
            <c:showBubbleSize val="0"/>
            <c:showLeaderLines val="0"/>
          </c:dLbls>
          <c:cat>
            <c:multiLvlStrRef>
              <c:f>Sheet1!$A$2:$A$6</c:f>
              <c:multiLvlStrCache>
                <c:ptCount val="5"/>
                <c:lvl>
                  <c:pt idx="0">
                    <c:v>Javascript</c:v>
                  </c:pt>
                  <c:pt idx="1">
                    <c:v>Communication</c:v>
                  </c:pt>
                  <c:pt idx="2">
                    <c:v>Leadership</c:v>
                  </c:pt>
                  <c:pt idx="3">
                    <c:v>AWS</c:v>
                  </c:pt>
                  <c:pt idx="4">
                    <c:v>Java</c:v>
                  </c:pt>
                </c:lvl>
              </c:multiLvlStrCache>
            </c:multiLvlStrRef>
          </c:cat>
          <c:val>
            <c:numRef>
              <c:f>Sheet1!$B$2:$B$6</c:f>
              <c:numCache>
                <c:formatCode>General</c:formatCode>
                <c:ptCount val="5"/>
                <c:pt idx="0">
                  <c:v>22.77</c:v>
                </c:pt>
                <c:pt idx="1">
                  <c:v>20.17</c:v>
                </c:pt>
                <c:pt idx="2">
                  <c:v>18.4</c:v>
                </c:pt>
                <c:pt idx="3">
                  <c:v>17.98</c:v>
                </c:pt>
                <c:pt idx="4">
                  <c:v>17.46</c:v>
                </c:pt>
              </c:numCache>
            </c:numRef>
          </c:val>
        </c:ser>
        <c:dLbls>
          <c:numFmt formatCode="0.0&quot;%&quot;" sourceLinked="0"/>
          <c:txPr>
            <a:bodyPr/>
            <a:lstStyle/>
            <a:p>
              <a:pPr>
                <a:defRPr b="0" i="0" strike="noStrike" sz="1200" u="none">
                  <a:solidFill>
                    <a:srgbClr val="1B27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733"/>
                </a:solidFill>
                <a:latin typeface="+mn-lt"/>
              </a:defRPr>
            </a:pPr>
            <a:endParaRPr lang="en-US"/>
          </a:p>
        </c:txPr>
        <c:crossAx val="2094734552"/>
        <c:crosses val="autoZero"/>
        <c:auto val="1"/>
        <c:lblAlgn val="ctr"/>
        <c:noMultiLvlLbl val="1"/>
      </c:catAx>
      <c:valAx>
        <c:axId val="2094734552"/>
        <c:scaling>
          <c:orientation val="minMax"/>
          <c:max val="8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70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Lift</c:v>
                </c:pt>
              </c:strCache>
            </c:strRef>
          </c:tx>
          <c:spPr>
            <a:solidFill>
              <a:srgbClr val="0E9AA7"/>
            </a:solidFill>
            <a:effectLst/>
          </c:spPr>
          <c:invertIfNegative val="0"/>
          <c:dLbls>
            <c:numFmt formatCode="0.0" sourceLinked="0"/>
            <c:txPr>
              <a:bodyPr/>
              <a:lstStyle/>
              <a:p>
                <a:pPr>
                  <a:defRPr b="0" i="0" strike="noStrike" sz="1200" u="none">
                    <a:solidFill>
                      <a:srgbClr val="1B2733"/>
                    </a:solidFill>
                    <a:latin typeface="+mn-lt"/>
                  </a:defRPr>
                </a:pPr>
              </a:p>
            </c:txPr>
            <c:showLegendKey val="0"/>
            <c:showVal val="1"/>
            <c:showCatName val="0"/>
            <c:showSerName val="0"/>
            <c:showPercent val="0"/>
            <c:showBubbleSize val="0"/>
            <c:showLeaderLines val="0"/>
          </c:dLbls>
          <c:cat>
            <c:multiLvlStrRef>
              <c:f>Sheet1!$A$2:$A$7</c:f>
              <c:multiLvlStrCache>
                <c:ptCount val="6"/>
                <c:lvl>
                  <c:pt idx="0">
                    <c:v>Azure + GCP</c:v>
                  </c:pt>
                  <c:pt idx="1">
                    <c:v>AWS + GCP</c:v>
                  </c:pt>
                  <c:pt idx="2">
                    <c:v>AWS + Azure</c:v>
                  </c:pt>
                  <c:pt idx="3">
                    <c:v>Python + SQL</c:v>
                  </c:pt>
                  <c:pt idx="4">
                    <c:v>AWS + Python</c:v>
                  </c:pt>
                  <c:pt idx="5">
                    <c:v>Communication + Leadership</c:v>
                  </c:pt>
                </c:lvl>
              </c:multiLvlStrCache>
            </c:multiLvlStrRef>
          </c:cat>
          <c:val>
            <c:numRef>
              <c:f>Sheet1!$B$2:$B$7</c:f>
              <c:numCache>
                <c:formatCode>General</c:formatCode>
                <c:ptCount val="6"/>
                <c:pt idx="0">
                  <c:v>9.18</c:v>
                </c:pt>
                <c:pt idx="1">
                  <c:v>7.58</c:v>
                </c:pt>
                <c:pt idx="2">
                  <c:v>6.73</c:v>
                </c:pt>
                <c:pt idx="3">
                  <c:v>3.97</c:v>
                </c:pt>
                <c:pt idx="4">
                  <c:v>3.79</c:v>
                </c:pt>
                <c:pt idx="5">
                  <c:v>3.45</c:v>
                </c:pt>
              </c:numCache>
            </c:numRef>
          </c:val>
        </c:ser>
        <c:dLbls>
          <c:numFmt formatCode="0.0" sourceLinked="0"/>
          <c:txPr>
            <a:bodyPr/>
            <a:lstStyle/>
            <a:p>
              <a:pPr>
                <a:defRPr b="0" i="0" strike="noStrike" sz="1200" u="none">
                  <a:solidFill>
                    <a:srgbClr val="1B27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733"/>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70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Postings</c:v>
                </c:pt>
              </c:strCache>
            </c:strRef>
          </c:tx>
          <c:spPr>
            <a:solidFill>
              <a:srgbClr val="0E9AA7"/>
            </a:solidFill>
            <a:effectLst/>
          </c:spPr>
          <c:invertIfNegative val="0"/>
          <c:dLbls>
            <c:numFmt formatCode="#,##0" sourceLinked="0"/>
            <c:txPr>
              <a:bodyPr/>
              <a:lstStyle/>
              <a:p>
                <a:pPr>
                  <a:defRPr b="0" i="0" strike="noStrike" sz="1200" u="none">
                    <a:solidFill>
                      <a:srgbClr val="1B2733"/>
                    </a:solidFill>
                    <a:latin typeface="+mn-lt"/>
                  </a:defRPr>
                </a:pPr>
              </a:p>
            </c:txPr>
            <c:showLegendKey val="0"/>
            <c:showVal val="1"/>
            <c:showCatName val="0"/>
            <c:showSerName val="0"/>
            <c:showPercent val="0"/>
            <c:showBubbleSize val="0"/>
            <c:showLeaderLines val="0"/>
          </c:dLbls>
          <c:dPt>
            <c:idx val="0"/>
            <c:invertIfNegative val="0"/>
            <c:bubble3D val="0"/>
            <c:spPr>
              <a:solidFill>
                <a:srgbClr val="0E9AA7"/>
              </a:solidFill>
              <a:effectLst/>
            </c:spPr>
          </c:dPt>
          <c:dPt>
            <c:idx val="1"/>
            <c:invertIfNegative val="0"/>
            <c:bubble3D val="0"/>
            <c:spPr>
              <a:solidFill>
                <a:srgbClr val="0E9AA7"/>
              </a:solidFill>
              <a:effectLst/>
            </c:spPr>
          </c:dPt>
          <c:dPt>
            <c:idx val="2"/>
            <c:invertIfNegative val="0"/>
            <c:bubble3D val="0"/>
            <c:spPr>
              <a:solidFill>
                <a:srgbClr val="F2A541"/>
              </a:solidFill>
              <a:effectLst/>
            </c:spPr>
          </c:dPt>
          <c:dPt>
            <c:idx val="3"/>
            <c:invertIfNegative val="0"/>
            <c:bubble3D val="0"/>
            <c:spPr>
              <a:solidFill>
                <a:srgbClr val="F2A541"/>
              </a:solidFill>
              <a:effectLst/>
            </c:spPr>
          </c:dPt>
          <c:dPt>
            <c:idx val="4"/>
            <c:invertIfNegative val="0"/>
            <c:bubble3D val="0"/>
            <c:spPr>
              <a:solidFill>
                <a:srgbClr val="F2A541"/>
              </a:solidFill>
              <a:effectLst/>
            </c:spPr>
          </c:dPt>
          <c:dPt>
            <c:idx val="5"/>
            <c:invertIfNegative val="0"/>
            <c:bubble3D val="0"/>
            <c:spPr>
              <a:solidFill>
                <a:srgbClr val="F2A541"/>
              </a:solidFill>
              <a:effectLst/>
            </c:spPr>
          </c:dPt>
          <c:dPt>
            <c:idx val="6"/>
            <c:invertIfNegative val="0"/>
            <c:bubble3D val="0"/>
            <c:spPr>
              <a:solidFill>
                <a:srgbClr val="F2A541"/>
              </a:solidFill>
              <a:effectLst/>
            </c:spPr>
          </c:dPt>
          <c:dPt>
            <c:idx val="7"/>
            <c:invertIfNegative val="0"/>
            <c:bubble3D val="0"/>
            <c:spPr>
              <a:solidFill>
                <a:srgbClr val="F2A541"/>
              </a:solidFill>
              <a:effectLst/>
            </c:spPr>
          </c:dPt>
          <c:dPt>
            <c:idx val="8"/>
            <c:invertIfNegative val="0"/>
            <c:bubble3D val="0"/>
            <c:spPr>
              <a:solidFill>
                <a:srgbClr val="0E9AA7"/>
              </a:solidFill>
              <a:effectLst/>
            </c:spPr>
          </c:dPt>
          <c:dPt>
            <c:idx val="9"/>
            <c:invertIfNegative val="0"/>
            <c:bubble3D val="0"/>
            <c:spPr>
              <a:solidFill>
                <a:srgbClr val="F2A541"/>
              </a:solidFill>
              <a:effectLst/>
            </c:spPr>
          </c:dPt>
          <c:cat>
            <c:multiLvlStrRef>
              <c:f>Sheet1!$A$2:$A$11</c:f>
              <c:multiLvlStrCache>
                <c:ptCount val="10"/>
                <c:lvl>
                  <c:pt idx="0">
                    <c:v>machine learning</c:v>
                  </c:pt>
                  <c:pt idx="1">
                    <c:v>cross functional</c:v>
                  </c:pt>
                  <c:pt idx="2">
                    <c:v>national origin</c:v>
                  </c:pt>
                  <c:pt idx="3">
                    <c:v>sexual orientation</c:v>
                  </c:pt>
                  <c:pt idx="4">
                    <c:v>gender identity</c:v>
                  </c:pt>
                  <c:pt idx="5">
                    <c:v>marital status</c:v>
                  </c:pt>
                  <c:pt idx="6">
                    <c:v>equal opportunity</c:v>
                  </c:pt>
                  <c:pt idx="7">
                    <c:v>without regard</c:v>
                  </c:pt>
                  <c:pt idx="8">
                    <c:v>problem solving</c:v>
                  </c:pt>
                  <c:pt idx="9">
                    <c:v>interview process</c:v>
                  </c:pt>
                </c:lvl>
              </c:multiLvlStrCache>
            </c:multiLvlStrRef>
          </c:cat>
          <c:val>
            <c:numRef>
              <c:f>Sheet1!$B$2:$B$11</c:f>
              <c:numCache>
                <c:formatCode>General</c:formatCode>
                <c:ptCount val="10"/>
                <c:pt idx="0">
                  <c:v>331</c:v>
                </c:pt>
                <c:pt idx="1">
                  <c:v>318</c:v>
                </c:pt>
                <c:pt idx="2">
                  <c:v>247</c:v>
                </c:pt>
                <c:pt idx="3">
                  <c:v>247</c:v>
                </c:pt>
                <c:pt idx="4">
                  <c:v>236</c:v>
                </c:pt>
                <c:pt idx="5">
                  <c:v>227</c:v>
                </c:pt>
                <c:pt idx="6">
                  <c:v>217</c:v>
                </c:pt>
                <c:pt idx="7">
                  <c:v>210</c:v>
                </c:pt>
                <c:pt idx="8">
                  <c:v>209</c:v>
                </c:pt>
                <c:pt idx="9">
                  <c:v>201</c:v>
                </c:pt>
              </c:numCache>
            </c:numRef>
          </c:val>
        </c:ser>
        <c:dLbls>
          <c:numFmt formatCode="#,##0" sourceLinked="0"/>
          <c:txPr>
            <a:bodyPr/>
            <a:lstStyle/>
            <a:p>
              <a:pPr>
                <a:defRPr b="0" i="0" strike="noStrike" sz="1200" u="none">
                  <a:solidFill>
                    <a:srgbClr val="1B27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733"/>
                </a:solidFill>
                <a:latin typeface="+mn-lt"/>
              </a:defRPr>
            </a:pPr>
            <a:endParaRPr lang="en-US"/>
          </a:p>
        </c:txPr>
        <c:crossAx val="2094734552"/>
        <c:crosses val="autoZero"/>
        <c:auto val="1"/>
        <c:lblAlgn val="ctr"/>
        <c:noMultiLvlLbl val="1"/>
      </c:catAx>
      <c:valAx>
        <c:axId val="2094734552"/>
        <c:scaling>
          <c:orientation val="minMax"/>
          <c:max val="4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70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Excel</c:v>
                </c:pt>
              </c:strCache>
            </c:strRef>
          </c:tx>
          <c:spPr>
            <a:solidFill>
              <a:schemeClr val="accent1"/>
            </a:solidFill>
            <a:ln w="9525" cap="flat">
              <a:solidFill>
                <a:srgbClr val="F9F9F9"/>
              </a:solidFill>
              <a:prstDash val="solid"/>
              <a:round/>
            </a:ln>
            <a:effectLst/>
          </c:spPr>
          <c:dPt>
            <c:idx val="0"/>
            <c:bubble3D val="0"/>
            <c:spPr>
              <a:solidFill>
                <a:srgbClr val="F2A541"/>
              </a:solidFill>
              <a:effectLst/>
            </c:spPr>
          </c:dPt>
          <c:dPt>
            <c:idx val="1"/>
            <c:bubble3D val="0"/>
            <c:spPr>
              <a:solidFill>
                <a:srgbClr val="0E9AA7"/>
              </a:solidFill>
              <a:effectLst/>
            </c:spPr>
          </c:dPt>
          <c:dPt>
            <c:idx val="2"/>
            <c:bubble3D val="0"/>
            <c:spPr>
              <a:solidFill>
                <a:srgbClr val="B7C7D1"/>
              </a:solidFill>
              <a:effectLst/>
            </c:spPr>
          </c:dPt>
          <c:dLbls>
            <c:dLbl>
              <c:idx val="0"/>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Verb cue only</c:v>
                </c:pt>
                <c:pt idx="1">
                  <c:v>Software cue</c:v>
                </c:pt>
                <c:pt idx="2">
                  <c:v>Neither / mixed</c:v>
                </c:pt>
              </c:strCache>
            </c:strRef>
          </c:cat>
          <c:val>
            <c:numRef>
              <c:f>Sheet1!$B$2:$B$4</c:f>
              <c:numCache>
                <c:ptCount val="3"/>
                <c:pt idx="0">
                  <c:v>98</c:v>
                </c:pt>
                <c:pt idx="1">
                  <c:v>78</c:v>
                </c:pt>
                <c:pt idx="2">
                  <c:v>18</c:v>
                </c:pt>
              </c:numCache>
            </c:numRef>
          </c:val>
        </c:ser>
        <c:firstSliceAng val="0"/>
        <c:holeSize val="55"/>
      </c:doughnutChart>
      <c:spPr>
        <a:noFill/>
        <a:ln>
          <a:noFill/>
        </a:ln>
        <a:effectLst/>
      </c:spPr>
    </c:plotArea>
    <c:legend>
      <c:legendPos val="r"/>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JobIntel collects real job postings from the web, turns the unstructured text into structured features with transparent NLP, and summarises the market. Four questions drive it: which skills employers ask for, how skills differ by role and city, which skills appear together, and where the text misleads. A second deck covers the recommender.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Emphasise that each step is deterministic and testable: that is what makes the error analysis later in the deck possible. Raw responses are saved, so every number can be reproduced without calling the APIs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Adzuna is a search API with a published call limit, so collection is budgeted: 48 calls, 20 per minute. Greenhouse and Lever are public career boards, no key needed. The chart shows why they behave so differently: snippets are about 500 characters, full postings are 4,000 to 6,000. The same extractor yields 1.8 skills per Adzuna posting but 7.7 per Greenhouse posting, so source mix changes any skill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real data: a Databricks posting as the board delivered it (HTML that is itself escaped) and after cleaning. Other cleaning steps: normalise whitespace, map locations to known Indian cities, de-duplicate by source ID and by title plus company plus city, and keep missing fields missing. Below: skills come from a 108-skill dictionary with aliases, matched as whole phrases, longest first, so ml maps to Machine Learning. An employer-name filter drops cases like MongoDB in MongoDB's own postings. Coverage is about two thirds of postings, 2.7 skills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extractors. Experience years come from regex patterns like 3 to 5 years or 5 plus years; about a quarter of postings state it, and we show it only as information. Role classification is weighted keyword rules with 10 categories. Titles that match nothing fall back to a default and are flagged, so they never count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skills. Communication and leadership lead because the full-text company-board postings spell out soft skills: communication appears in 4.6 percent of Adzuna snippets but 55 percent of Greenhouse and 70 percent of Lever postings. Machine learning, Python and SQL are the technical core; the three clouds each appear in 7 to 11 percent. Data science is a field label rather than a tool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by role. Data and analytics is SQL, ETL and Python. AI and machine learning is dominated by machine learning itself at 65 percent, with NLP and statistics. Software engineering is JavaScript, Java and AWS, plus soft skills. These are shares within each role. Sampling effect: the sample is 31 percent software engineering, 21 percent data and analytics, 13 percent AI and ML, and Bengaluru is the largest city at 32 percent, because Adzuna was queried for 12 roles in 4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Co-occurrence with lift. Lift is the observed joint frequency divided by what independence would predict. Cloud skills have the highest lifts: employers list several clouds together. Python and SQL is the core data pair. Communication and leadership co-occur often, but with a lower lift because both are very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honest error analyses. Left: the most common two-word phrases in full postings; seven of the top ten are equal-opportunity and recruiting boilerplate, not job content, so raw term frequency needs boilerplate removal. Right: the word excel as a verb is extracted as the Microsoft Excel skill; of 194 Excel extractions, about half show verb cues like you excel in and no software cue. That is a heuristic cue-word audit, not hand-labelled ground truth, so treat the split as an estimate. The fix is a context rule or part-of-speech check; it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delivery and scope. All analytics come from one service function and one endpoint; computing the report takes about 2.4 seconds, so it is cached and recomputed only when the job data changes. The trend tab refuses to claim a trend because there are only two collection snapshots. We claim descriptive statistics of a real sample with transparent rules. We do not claim an extraction accuracy figure, because we have not hand-labelled a test set, nor market-wide trends. Questions welcome; offer the live demo: dashboard, Market tab, and the API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2B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680960" cy="2011680"/>
          </a:xfrm>
          <a:prstGeom prst="rect">
            <a:avLst/>
          </a:prstGeom>
          <a:noFill/>
          <a:ln/>
        </p:spPr>
        <p:txBody>
          <a:bodyPr wrap="square" rtlCol="0"/>
          <a:lstStyle>
            <a:lvl1pPr algn="l" indent="0" marL="0">
              <a:buNone/>
              <a:defRPr lang="en-US" sz="4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600" dirty="0"/>
          </a:p>
        </p:txBody>
      </p:sp>
      <p:sp>
        <p:nvSpPr>
          <p:cNvPr id="3" name="Text 0"/>
          <p:cNvSpPr/>
          <p:nvPr>
            <p:ph idx="101" type="body" hasCustomPrompt="1"/>
          </p:nvPr>
        </p:nvSpPr>
        <p:spPr>
          <a:xfrm>
            <a:off x="731520" y="4023360"/>
            <a:ext cx="7498080" cy="10058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EEF4F6"/>
        </a:solidFill>
      </p:bgPr>
    </p:bg>
    <p:spTree>
      <p:nvGrpSpPr>
        <p:cNvPr id="1" name=""/>
        <p:cNvGrpSpPr/>
        <p:nvPr/>
      </p:nvGrpSpPr>
      <p:grpSpPr>
        <a:xfrm>
          <a:off x="0" y="0"/>
          <a:ext cx="0" cy="0"/>
          <a:chOff x="0" y="0"/>
          <a:chExt cx="0" cy="0"/>
        </a:xfrm>
      </p:grpSpPr>
      <p:sp>
        <p:nvSpPr>
          <p:cNvPr id="2" name="Text 0"/>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100" dirty="0">
                <a:solidFill>
                  <a:srgbClr val="5E7080"/>
                </a:solidFill>
                <a:latin typeface="Calibri" pitchFamily="34" charset="0"/>
                <a:ea typeface="Calibri" pitchFamily="34" charset="-122"/>
                <a:cs typeface="Calibri" pitchFamily="34" charset="-120"/>
              </a:rPr>
              <a:t>JobIntel · Text, Web &amp; Social Media Analytics</a:t>
            </a:r>
            <a:endParaRPr lang="en-US" sz="1100" dirty="0"/>
          </a:p>
        </p:txBody>
      </p:sp>
      <p:sp>
        <p:nvSpPr>
          <p:cNvPr id="3" name="Text 1"/>
          <p:cNvSpPr/>
          <p:nvPr>
            <p:ph idx="101" type="title" hasCustomPrompt="1"/>
          </p:nvPr>
        </p:nvSpPr>
        <p:spPr>
          <a:xfrm>
            <a:off x="548640" y="347472"/>
            <a:ext cx="11094415"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4" name="Text 1"/>
          <p:cNvSpPr/>
          <p:nvPr>
            <p:ph idx="102" type="body" hasCustomPrompt="1"/>
          </p:nvPr>
        </p:nvSpPr>
        <p:spPr>
          <a:xfrm>
            <a:off x="548640" y="1133856"/>
            <a:ext cx="11094415" cy="50292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08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0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680960" cy="2011680"/>
          </a:xfrm>
          <a:prstGeom prst="rect">
            <a:avLst/>
          </a:prstGeom>
          <a:noFill/>
          <a:ln/>
        </p:spPr>
        <p:txBody>
          <a:bodyPr wrap="square" lIns="0" tIns="0" rIns="0" bIns="0" rtlCol="0" anchor="b"/>
          <a:lstStyle/>
          <a:p>
            <a:pPr algn="l" indent="0" marL="0">
              <a:buNone/>
            </a:pPr>
            <a:r>
              <a:rPr lang="en-US" sz="4600" b="1" dirty="0">
                <a:solidFill>
                  <a:schemeClr val="bg1"/>
                </a:solidFill>
                <a:latin typeface="Cambria" pitchFamily="34" charset="0"/>
                <a:ea typeface="Cambria" pitchFamily="34" charset="-122"/>
                <a:cs typeface="Cambria" pitchFamily="34" charset="-120"/>
              </a:rPr>
              <a:t>Turning job postings into market intelligence</a:t>
            </a:r>
            <a:endParaRPr lang="en-US" sz="4600" dirty="0"/>
          </a:p>
        </p:txBody>
      </p:sp>
      <p:sp>
        <p:nvSpPr>
          <p:cNvPr id="3" name="Text 0"/>
          <p:cNvSpPr/>
          <p:nvPr>
            <p:ph idx="101" type="body" hasCustomPrompt="1"/>
          </p:nvPr>
        </p:nvSpPr>
        <p:spPr>
          <a:xfrm>
            <a:off x="731520" y="4023360"/>
            <a:ext cx="7498080" cy="1005840"/>
          </a:xfrm>
          <a:prstGeom prst="rect">
            <a:avLst/>
          </a:prstGeom>
          <a:noFill/>
          <a:ln/>
        </p:spPr>
        <p:txBody>
          <a:bodyPr wrap="square" lIns="0" tIns="0" rIns="0" bIns="0" rtlCol="0" anchor="t"/>
          <a:lstStyle/>
          <a:p>
            <a:pPr algn="l" indent="0" marL="0">
              <a:buNone/>
            </a:pPr>
            <a:r>
              <a:rPr lang="en-US" sz="2000" dirty="0">
                <a:solidFill>
                  <a:schemeClr val="bg2"/>
                </a:solidFill>
              </a:rPr>
              <a:t>Text, Web &amp; Social Media Analytics project, built on real postings collected from three web sources</a:t>
            </a:r>
            <a:endParaRPr lang="en-US" sz="2000" dirty="0"/>
          </a:p>
        </p:txBody>
      </p:sp>
      <p:sp>
        <p:nvSpPr>
          <p:cNvPr id="4" name="pill JobIntel"/>
          <p:cNvSpPr/>
          <p:nvPr/>
        </p:nvSpPr>
        <p:spPr>
          <a:xfrm>
            <a:off x="731520" y="731520"/>
            <a:ext cx="1371600" cy="365760"/>
          </a:xfrm>
          <a:prstGeom prst="roundRect">
            <a:avLst>
              <a:gd name="adj" fmla="val 50000"/>
            </a:avLst>
          </a:prstGeom>
          <a:solidFill>
            <a:srgbClr val="0E9AA7"/>
          </a:solidFill>
          <a:ln w="6350">
            <a:solidFill>
              <a:srgbClr val="0E9AA7"/>
            </a:solidFill>
            <a:prstDash val="solid"/>
          </a:ln>
        </p:spPr>
      </p:sp>
      <p:sp>
        <p:nvSpPr>
          <p:cNvPr id="5" name="Text 3"/>
          <p:cNvSpPr txBox="1"/>
          <p:nvPr/>
        </p:nvSpPr>
        <p:spPr>
          <a:xfrm>
            <a:off x="731520" y="731520"/>
            <a:ext cx="13716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JobIntel</a:t>
            </a:r>
            <a:endParaRPr lang="en-US" sz="1500" dirty="0"/>
          </a:p>
        </p:txBody>
      </p:sp>
      <p:sp>
        <p:nvSpPr>
          <p:cNvPr id="6" name="stat tile postings analysed"/>
          <p:cNvSpPr/>
          <p:nvPr/>
        </p:nvSpPr>
        <p:spPr>
          <a:xfrm>
            <a:off x="8778240" y="1417320"/>
            <a:ext cx="2834640" cy="1371600"/>
          </a:xfrm>
          <a:prstGeom prst="roundRect">
            <a:avLst>
              <a:gd name="adj" fmla="val 6667"/>
            </a:avLst>
          </a:prstGeom>
          <a:solidFill>
            <a:srgbClr val="123B4F"/>
          </a:solidFill>
          <a:ln w="9525">
            <a:solidFill>
              <a:srgbClr val="1D5670"/>
            </a:solidFill>
            <a:prstDash val="solid"/>
          </a:ln>
        </p:spPr>
      </p:sp>
      <p:sp>
        <p:nvSpPr>
          <p:cNvPr id="7" name="Text 5"/>
          <p:cNvSpPr txBox="1"/>
          <p:nvPr/>
        </p:nvSpPr>
        <p:spPr>
          <a:xfrm>
            <a:off x="9006840" y="1527048"/>
            <a:ext cx="2468880" cy="731520"/>
          </a:xfrm>
          <a:prstGeom prst="rect">
            <a:avLst/>
          </a:prstGeom>
          <a:noFill/>
          <a:ln/>
        </p:spPr>
        <p:txBody>
          <a:bodyPr wrap="square" lIns="0" tIns="0" rIns="0" bIns="0" rtlCol="0" anchor="b"/>
          <a:lstStyle/>
          <a:p>
            <a:pPr indent="0" marL="0">
              <a:buNone/>
            </a:pPr>
            <a:r>
              <a:rPr lang="en-US" sz="4000" b="1" dirty="0">
                <a:solidFill>
                  <a:srgbClr val="4FD1DC"/>
                </a:solidFill>
                <a:latin typeface="Cambria" pitchFamily="34" charset="0"/>
                <a:ea typeface="Cambria" pitchFamily="34" charset="-122"/>
                <a:cs typeface="Cambria" pitchFamily="34" charset="-120"/>
              </a:rPr>
              <a:t>3,079</a:t>
            </a:r>
            <a:endParaRPr lang="en-US" sz="4000" dirty="0"/>
          </a:p>
        </p:txBody>
      </p:sp>
      <p:sp>
        <p:nvSpPr>
          <p:cNvPr id="8" name="Text 6"/>
          <p:cNvSpPr txBox="1"/>
          <p:nvPr/>
        </p:nvSpPr>
        <p:spPr>
          <a:xfrm>
            <a:off x="9006840" y="2286000"/>
            <a:ext cx="2468880" cy="365760"/>
          </a:xfrm>
          <a:prstGeom prst="rect">
            <a:avLst/>
          </a:prstGeom>
          <a:noFill/>
          <a:ln/>
        </p:spPr>
        <p:txBody>
          <a:bodyPr wrap="square" lIns="0" tIns="0" rIns="0" bIns="0" rtlCol="0" anchor="t"/>
          <a:lstStyle/>
          <a:p>
            <a:pPr indent="0" marL="0">
              <a:buNone/>
            </a:pPr>
            <a:r>
              <a:rPr lang="en-US" sz="1500" dirty="0">
                <a:solidFill>
                  <a:srgbClr val="CFE3EA"/>
                </a:solidFill>
                <a:latin typeface="Calibri" pitchFamily="34" charset="0"/>
                <a:ea typeface="Calibri" pitchFamily="34" charset="-122"/>
                <a:cs typeface="Calibri" pitchFamily="34" charset="-120"/>
              </a:rPr>
              <a:t>postings analysed</a:t>
            </a:r>
            <a:endParaRPr lang="en-US" sz="1500" dirty="0"/>
          </a:p>
        </p:txBody>
      </p:sp>
      <p:sp>
        <p:nvSpPr>
          <p:cNvPr id="9" name="stat tile web sources"/>
          <p:cNvSpPr/>
          <p:nvPr/>
        </p:nvSpPr>
        <p:spPr>
          <a:xfrm>
            <a:off x="8778240" y="3017520"/>
            <a:ext cx="2834640" cy="1371600"/>
          </a:xfrm>
          <a:prstGeom prst="roundRect">
            <a:avLst>
              <a:gd name="adj" fmla="val 6667"/>
            </a:avLst>
          </a:prstGeom>
          <a:solidFill>
            <a:srgbClr val="123B4F"/>
          </a:solidFill>
          <a:ln w="9525">
            <a:solidFill>
              <a:srgbClr val="1D5670"/>
            </a:solidFill>
            <a:prstDash val="solid"/>
          </a:ln>
        </p:spPr>
      </p:sp>
      <p:sp>
        <p:nvSpPr>
          <p:cNvPr id="10" name="Text 8"/>
          <p:cNvSpPr txBox="1"/>
          <p:nvPr/>
        </p:nvSpPr>
        <p:spPr>
          <a:xfrm>
            <a:off x="9006840" y="3127248"/>
            <a:ext cx="2468880" cy="731520"/>
          </a:xfrm>
          <a:prstGeom prst="rect">
            <a:avLst/>
          </a:prstGeom>
          <a:noFill/>
          <a:ln/>
        </p:spPr>
        <p:txBody>
          <a:bodyPr wrap="square" lIns="0" tIns="0" rIns="0" bIns="0" rtlCol="0" anchor="b"/>
          <a:lstStyle/>
          <a:p>
            <a:pPr indent="0" marL="0">
              <a:buNone/>
            </a:pPr>
            <a:r>
              <a:rPr lang="en-US" sz="4000" b="1" dirty="0">
                <a:solidFill>
                  <a:srgbClr val="4FD1DC"/>
                </a:solidFill>
                <a:latin typeface="Cambria" pitchFamily="34" charset="0"/>
                <a:ea typeface="Cambria" pitchFamily="34" charset="-122"/>
                <a:cs typeface="Cambria" pitchFamily="34" charset="-120"/>
              </a:rPr>
              <a:t>3</a:t>
            </a:r>
            <a:endParaRPr lang="en-US" sz="4000" dirty="0"/>
          </a:p>
        </p:txBody>
      </p:sp>
      <p:sp>
        <p:nvSpPr>
          <p:cNvPr id="11" name="Text 9"/>
          <p:cNvSpPr txBox="1"/>
          <p:nvPr/>
        </p:nvSpPr>
        <p:spPr>
          <a:xfrm>
            <a:off x="9006840" y="3886200"/>
            <a:ext cx="2468880" cy="365760"/>
          </a:xfrm>
          <a:prstGeom prst="rect">
            <a:avLst/>
          </a:prstGeom>
          <a:noFill/>
          <a:ln/>
        </p:spPr>
        <p:txBody>
          <a:bodyPr wrap="square" lIns="0" tIns="0" rIns="0" bIns="0" rtlCol="0" anchor="t"/>
          <a:lstStyle/>
          <a:p>
            <a:pPr indent="0" marL="0">
              <a:buNone/>
            </a:pPr>
            <a:r>
              <a:rPr lang="en-US" sz="1500" dirty="0">
                <a:solidFill>
                  <a:srgbClr val="CFE3EA"/>
                </a:solidFill>
                <a:latin typeface="Calibri" pitchFamily="34" charset="0"/>
                <a:ea typeface="Calibri" pitchFamily="34" charset="-122"/>
                <a:cs typeface="Calibri" pitchFamily="34" charset="-120"/>
              </a:rPr>
              <a:t>web sources</a:t>
            </a:r>
            <a:endParaRPr lang="en-US" sz="1500" dirty="0"/>
          </a:p>
        </p:txBody>
      </p:sp>
      <p:sp>
        <p:nvSpPr>
          <p:cNvPr id="12" name="stat tile skills in the dictionary"/>
          <p:cNvSpPr/>
          <p:nvPr/>
        </p:nvSpPr>
        <p:spPr>
          <a:xfrm>
            <a:off x="8778240" y="4617720"/>
            <a:ext cx="2834640" cy="1371600"/>
          </a:xfrm>
          <a:prstGeom prst="roundRect">
            <a:avLst>
              <a:gd name="adj" fmla="val 6667"/>
            </a:avLst>
          </a:prstGeom>
          <a:solidFill>
            <a:srgbClr val="123B4F"/>
          </a:solidFill>
          <a:ln w="9525">
            <a:solidFill>
              <a:srgbClr val="1D5670"/>
            </a:solidFill>
            <a:prstDash val="solid"/>
          </a:ln>
        </p:spPr>
      </p:sp>
      <p:sp>
        <p:nvSpPr>
          <p:cNvPr id="13" name="Text 11"/>
          <p:cNvSpPr txBox="1"/>
          <p:nvPr/>
        </p:nvSpPr>
        <p:spPr>
          <a:xfrm>
            <a:off x="9006840" y="4727448"/>
            <a:ext cx="2468880" cy="731520"/>
          </a:xfrm>
          <a:prstGeom prst="rect">
            <a:avLst/>
          </a:prstGeom>
          <a:noFill/>
          <a:ln/>
        </p:spPr>
        <p:txBody>
          <a:bodyPr wrap="square" lIns="0" tIns="0" rIns="0" bIns="0" rtlCol="0" anchor="b"/>
          <a:lstStyle/>
          <a:p>
            <a:pPr indent="0" marL="0">
              <a:buNone/>
            </a:pPr>
            <a:r>
              <a:rPr lang="en-US" sz="4000" b="1" dirty="0">
                <a:solidFill>
                  <a:srgbClr val="4FD1DC"/>
                </a:solidFill>
                <a:latin typeface="Cambria" pitchFamily="34" charset="0"/>
                <a:ea typeface="Cambria" pitchFamily="34" charset="-122"/>
                <a:cs typeface="Cambria" pitchFamily="34" charset="-120"/>
              </a:rPr>
              <a:t>108</a:t>
            </a:r>
            <a:endParaRPr lang="en-US" sz="4000" dirty="0"/>
          </a:p>
        </p:txBody>
      </p:sp>
      <p:sp>
        <p:nvSpPr>
          <p:cNvPr id="14" name="Text 12"/>
          <p:cNvSpPr txBox="1"/>
          <p:nvPr/>
        </p:nvSpPr>
        <p:spPr>
          <a:xfrm>
            <a:off x="9006840" y="5486400"/>
            <a:ext cx="2468880" cy="365760"/>
          </a:xfrm>
          <a:prstGeom prst="rect">
            <a:avLst/>
          </a:prstGeom>
          <a:noFill/>
          <a:ln/>
        </p:spPr>
        <p:txBody>
          <a:bodyPr wrap="square" lIns="0" tIns="0" rIns="0" bIns="0" rtlCol="0" anchor="t"/>
          <a:lstStyle/>
          <a:p>
            <a:pPr indent="0" marL="0">
              <a:buNone/>
            </a:pPr>
            <a:r>
              <a:rPr lang="en-US" sz="1500" dirty="0">
                <a:solidFill>
                  <a:srgbClr val="CFE3EA"/>
                </a:solidFill>
                <a:latin typeface="Calibri" pitchFamily="34" charset="0"/>
                <a:ea typeface="Calibri" pitchFamily="34" charset="-122"/>
                <a:cs typeface="Calibri" pitchFamily="34" charset="-120"/>
              </a:rPr>
              <a:t>skills in the dictionary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One pipeline from web to insight</a:t>
            </a:r>
            <a:endParaRPr lang="en-US" sz="3400" dirty="0"/>
          </a:p>
        </p:txBody>
      </p:sp>
      <p:sp>
        <p:nvSpPr>
          <p:cNvPr id="3" name="Text 1"/>
          <p:cNvSpPr/>
          <p:nvPr>
            <p:ph idx="102" type="body" hasCustomPrompt="1"/>
          </p:nvPr>
        </p:nvSpPr>
        <p:spPr>
          <a:xfrm>
            <a:off x="548640" y="1133856"/>
            <a:ext cx="11094415" cy="502920"/>
          </a:xfrm>
          <a:prstGeom prst="rect">
            <a:avLst/>
          </a:prstGeom>
          <a:noFill/>
          <a:ln/>
        </p:spPr>
        <p:txBody>
          <a:bodyPr wrap="square" lIns="0" tIns="0" rIns="0" bIns="0" rtlCol="0" anchor="t"/>
          <a:lstStyle/>
          <a:p>
            <a:pPr algn="l" indent="0" marL="0">
              <a:buNone/>
            </a:pPr>
            <a:r>
              <a:rPr lang="en-US" sz="1800" dirty="0">
                <a:solidFill>
                  <a:schemeClr val="accent6"/>
                </a:solidFill>
              </a:rPr>
              <a:t>Every stage is rule-based and inspectable. There is no black-box model anywhere.</a:t>
            </a:r>
            <a:endParaRPr lang="en-US" sz="1800" dirty="0"/>
          </a:p>
        </p:txBody>
      </p:sp>
      <p:sp>
        <p:nvSpPr>
          <p:cNvPr id="5" name="pipeline step Collect"/>
          <p:cNvSpPr/>
          <p:nvPr/>
        </p:nvSpPr>
        <p:spPr>
          <a:xfrm>
            <a:off x="548640" y="2011680"/>
            <a:ext cx="1691640" cy="3017520"/>
          </a:xfrm>
          <a:prstGeom prst="roundRect">
            <a:avLst>
              <a:gd name="adj" fmla="val 5405"/>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6" name="Collect circle"/>
          <p:cNvSpPr/>
          <p:nvPr/>
        </p:nvSpPr>
        <p:spPr>
          <a:xfrm>
            <a:off x="1074420" y="2194560"/>
            <a:ext cx="640080" cy="640080"/>
          </a:xfrm>
          <a:prstGeom prst="ellipse">
            <a:avLst/>
          </a:prstGeom>
          <a:solidFill>
            <a:srgbClr val="0E9AA7"/>
          </a:solidFill>
          <a:ln w="6350">
            <a:solidFill>
              <a:srgbClr val="0E9AA7"/>
            </a:solidFill>
            <a:prstDash val="solid"/>
          </a:ln>
        </p:spPr>
      </p:sp>
      <p:pic>
        <p:nvPicPr>
          <p:cNvPr id="7" name="Image 0" descr="Collect">    </p:cNvPr>
          <p:cNvPicPr>
            <a:picLocks noChangeAspect="1"/>
          </p:cNvPicPr>
          <p:nvPr/>
        </p:nvPicPr>
        <p:blipFill>
          <a:blip r:embed="rId1"/>
          <a:stretch>
            <a:fillRect/>
          </a:stretch>
        </p:blipFill>
        <p:spPr>
          <a:xfrm>
            <a:off x="1228039" y="2348179"/>
            <a:ext cx="332842" cy="332842"/>
          </a:xfrm>
          <a:prstGeom prst="rect">
            <a:avLst/>
          </a:prstGeom>
        </p:spPr>
      </p:pic>
      <p:sp>
        <p:nvSpPr>
          <p:cNvPr id="8" name="Text 4"/>
          <p:cNvSpPr txBox="1"/>
          <p:nvPr/>
        </p:nvSpPr>
        <p:spPr>
          <a:xfrm>
            <a:off x="685800" y="2971800"/>
            <a:ext cx="1417320"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1. Collect</a:t>
            </a:r>
            <a:endParaRPr lang="en-US" sz="1800" dirty="0"/>
          </a:p>
        </p:txBody>
      </p:sp>
      <p:sp>
        <p:nvSpPr>
          <p:cNvPr id="9" name="Text 5"/>
          <p:cNvSpPr txBox="1"/>
          <p:nvPr/>
        </p:nvSpPr>
        <p:spPr>
          <a:xfrm>
            <a:off x="685800" y="3429000"/>
            <a:ext cx="1417320" cy="100584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APIs and public career boards, budgeted and audited</a:t>
            </a:r>
            <a:endParaRPr lang="en-US" sz="1400" dirty="0"/>
          </a:p>
        </p:txBody>
      </p:sp>
      <p:sp>
        <p:nvSpPr>
          <p:cNvPr id="10" name="Text 6"/>
          <p:cNvSpPr txBox="1"/>
          <p:nvPr/>
        </p:nvSpPr>
        <p:spPr>
          <a:xfrm>
            <a:off x="640080" y="4526280"/>
            <a:ext cx="1508760" cy="320040"/>
          </a:xfrm>
          <a:prstGeom prst="rect">
            <a:avLst/>
          </a:prstGeom>
          <a:noFill/>
          <a:ln/>
        </p:spPr>
        <p:txBody>
          <a:bodyPr wrap="square" lIns="0" tIns="0" rIns="0" bIns="0" rtlCol="0" anchor="t"/>
          <a:lstStyle/>
          <a:p>
            <a:pPr algn="ctr" indent="0" marL="0">
              <a:buNone/>
            </a:pPr>
            <a:r>
              <a:rPr lang="en-US" sz="1200" dirty="0">
                <a:solidFill>
                  <a:srgbClr val="5E7080"/>
                </a:solidFill>
                <a:latin typeface="Courier New" pitchFamily="34" charset="0"/>
                <a:ea typeface="Courier New" pitchFamily="34" charset="-122"/>
                <a:cs typeface="Courier New" pitchFamily="34" charset="-120"/>
              </a:rPr>
              <a:t>ingestion/</a:t>
            </a:r>
            <a:endParaRPr lang="en-US" sz="1200" dirty="0"/>
          </a:p>
        </p:txBody>
      </p:sp>
      <p:sp>
        <p:nvSpPr>
          <p:cNvPr id="11" name="arrow 1"/>
          <p:cNvSpPr/>
          <p:nvPr/>
        </p:nvSpPr>
        <p:spPr>
          <a:xfrm>
            <a:off x="2249424" y="3364992"/>
            <a:ext cx="170627" cy="256032"/>
          </a:xfrm>
          <a:prstGeom prst="rightArrow">
            <a:avLst/>
          </a:prstGeom>
          <a:solidFill>
            <a:srgbClr val="7BB8B0"/>
          </a:solidFill>
          <a:ln w="6350">
            <a:solidFill>
              <a:srgbClr val="7BB8B0"/>
            </a:solidFill>
            <a:prstDash val="solid"/>
          </a:ln>
        </p:spPr>
      </p:sp>
      <p:sp>
        <p:nvSpPr>
          <p:cNvPr id="12" name="pipeline step Clean"/>
          <p:cNvSpPr/>
          <p:nvPr/>
        </p:nvSpPr>
        <p:spPr>
          <a:xfrm>
            <a:off x="2429195" y="2011680"/>
            <a:ext cx="1691640" cy="3017520"/>
          </a:xfrm>
          <a:prstGeom prst="roundRect">
            <a:avLst>
              <a:gd name="adj" fmla="val 5405"/>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13" name="Clean circle"/>
          <p:cNvSpPr/>
          <p:nvPr/>
        </p:nvSpPr>
        <p:spPr>
          <a:xfrm>
            <a:off x="2954975" y="2194560"/>
            <a:ext cx="640080" cy="640080"/>
          </a:xfrm>
          <a:prstGeom prst="ellipse">
            <a:avLst/>
          </a:prstGeom>
          <a:solidFill>
            <a:srgbClr val="3F7CAC"/>
          </a:solidFill>
          <a:ln w="6350">
            <a:solidFill>
              <a:srgbClr val="3F7CAC"/>
            </a:solidFill>
            <a:prstDash val="solid"/>
          </a:ln>
        </p:spPr>
      </p:sp>
      <p:pic>
        <p:nvPicPr>
          <p:cNvPr id="14" name="Image 1" descr="Clean">    </p:cNvPr>
          <p:cNvPicPr>
            <a:picLocks noChangeAspect="1"/>
          </p:cNvPicPr>
          <p:nvPr/>
        </p:nvPicPr>
        <p:blipFill>
          <a:blip r:embed="rId2"/>
          <a:stretch>
            <a:fillRect/>
          </a:stretch>
        </p:blipFill>
        <p:spPr>
          <a:xfrm>
            <a:off x="3108594" y="2348179"/>
            <a:ext cx="332842" cy="332842"/>
          </a:xfrm>
          <a:prstGeom prst="rect">
            <a:avLst/>
          </a:prstGeom>
        </p:spPr>
      </p:pic>
      <p:sp>
        <p:nvSpPr>
          <p:cNvPr id="15" name="Text 10"/>
          <p:cNvSpPr txBox="1"/>
          <p:nvPr/>
        </p:nvSpPr>
        <p:spPr>
          <a:xfrm>
            <a:off x="2566355" y="2971800"/>
            <a:ext cx="1417320"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2. Clean</a:t>
            </a:r>
            <a:endParaRPr lang="en-US" sz="1800" dirty="0"/>
          </a:p>
        </p:txBody>
      </p:sp>
      <p:sp>
        <p:nvSpPr>
          <p:cNvPr id="16" name="Text 11"/>
          <p:cNvSpPr txBox="1"/>
          <p:nvPr/>
        </p:nvSpPr>
        <p:spPr>
          <a:xfrm>
            <a:off x="2566355" y="3429000"/>
            <a:ext cx="1417320" cy="100584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Strip markup, normalise locations, de-duplicate</a:t>
            </a:r>
            <a:endParaRPr lang="en-US" sz="1400" dirty="0"/>
          </a:p>
        </p:txBody>
      </p:sp>
      <p:sp>
        <p:nvSpPr>
          <p:cNvPr id="17" name="Text 12"/>
          <p:cNvSpPr txBox="1"/>
          <p:nvPr/>
        </p:nvSpPr>
        <p:spPr>
          <a:xfrm>
            <a:off x="2520635" y="4526280"/>
            <a:ext cx="1508760" cy="320040"/>
          </a:xfrm>
          <a:prstGeom prst="rect">
            <a:avLst/>
          </a:prstGeom>
          <a:noFill/>
          <a:ln/>
        </p:spPr>
        <p:txBody>
          <a:bodyPr wrap="square" lIns="0" tIns="0" rIns="0" bIns="0" rtlCol="0" anchor="t"/>
          <a:lstStyle/>
          <a:p>
            <a:pPr algn="ctr" indent="0" marL="0">
              <a:buNone/>
            </a:pPr>
            <a:r>
              <a:rPr lang="en-US" sz="1200" dirty="0">
                <a:solidFill>
                  <a:srgbClr val="5E7080"/>
                </a:solidFill>
                <a:latin typeface="Courier New" pitchFamily="34" charset="0"/>
                <a:ea typeface="Courier New" pitchFamily="34" charset="-122"/>
                <a:cs typeface="Courier New" pitchFamily="34" charset="-120"/>
              </a:rPr>
              <a:t>cleaner.py</a:t>
            </a:r>
            <a:endParaRPr lang="en-US" sz="1200" dirty="0"/>
          </a:p>
        </p:txBody>
      </p:sp>
      <p:sp>
        <p:nvSpPr>
          <p:cNvPr id="18" name="arrow 2"/>
          <p:cNvSpPr/>
          <p:nvPr/>
        </p:nvSpPr>
        <p:spPr>
          <a:xfrm>
            <a:off x="4129979" y="3364992"/>
            <a:ext cx="170627" cy="256032"/>
          </a:xfrm>
          <a:prstGeom prst="rightArrow">
            <a:avLst/>
          </a:prstGeom>
          <a:solidFill>
            <a:srgbClr val="7BB8B0"/>
          </a:solidFill>
          <a:ln w="6350">
            <a:solidFill>
              <a:srgbClr val="7BB8B0"/>
            </a:solidFill>
            <a:prstDash val="solid"/>
          </a:ln>
        </p:spPr>
      </p:sp>
      <p:sp>
        <p:nvSpPr>
          <p:cNvPr id="19" name="pipeline step Extract"/>
          <p:cNvSpPr/>
          <p:nvPr/>
        </p:nvSpPr>
        <p:spPr>
          <a:xfrm>
            <a:off x="4309750" y="2011680"/>
            <a:ext cx="1691640" cy="3017520"/>
          </a:xfrm>
          <a:prstGeom prst="roundRect">
            <a:avLst>
              <a:gd name="adj" fmla="val 5405"/>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20" name="Extract circle"/>
          <p:cNvSpPr/>
          <p:nvPr/>
        </p:nvSpPr>
        <p:spPr>
          <a:xfrm>
            <a:off x="4835530" y="2194560"/>
            <a:ext cx="640080" cy="640080"/>
          </a:xfrm>
          <a:prstGeom prst="ellipse">
            <a:avLst/>
          </a:prstGeom>
          <a:solidFill>
            <a:srgbClr val="0E9AA7"/>
          </a:solidFill>
          <a:ln w="6350">
            <a:solidFill>
              <a:srgbClr val="0E9AA7"/>
            </a:solidFill>
            <a:prstDash val="solid"/>
          </a:ln>
        </p:spPr>
      </p:sp>
      <p:pic>
        <p:nvPicPr>
          <p:cNvPr id="21" name="Image 2" descr="Extract">    </p:cNvPr>
          <p:cNvPicPr>
            <a:picLocks noChangeAspect="1"/>
          </p:cNvPicPr>
          <p:nvPr/>
        </p:nvPicPr>
        <p:blipFill>
          <a:blip r:embed="rId3"/>
          <a:stretch>
            <a:fillRect/>
          </a:stretch>
        </p:blipFill>
        <p:spPr>
          <a:xfrm>
            <a:off x="4989149" y="2348179"/>
            <a:ext cx="332842" cy="332842"/>
          </a:xfrm>
          <a:prstGeom prst="rect">
            <a:avLst/>
          </a:prstGeom>
        </p:spPr>
      </p:pic>
      <p:sp>
        <p:nvSpPr>
          <p:cNvPr id="22" name="Text 16"/>
          <p:cNvSpPr txBox="1"/>
          <p:nvPr/>
        </p:nvSpPr>
        <p:spPr>
          <a:xfrm>
            <a:off x="4446910" y="2971800"/>
            <a:ext cx="1417320"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3. Extract</a:t>
            </a:r>
            <a:endParaRPr lang="en-US" sz="1800" dirty="0"/>
          </a:p>
        </p:txBody>
      </p:sp>
      <p:sp>
        <p:nvSpPr>
          <p:cNvPr id="23" name="Text 17"/>
          <p:cNvSpPr txBox="1"/>
          <p:nvPr/>
        </p:nvSpPr>
        <p:spPr>
          <a:xfrm>
            <a:off x="4446910" y="3429000"/>
            <a:ext cx="1417320" cy="100584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Skills, degrees and experience years from the text</a:t>
            </a:r>
            <a:endParaRPr lang="en-US" sz="1400" dirty="0"/>
          </a:p>
        </p:txBody>
      </p:sp>
      <p:sp>
        <p:nvSpPr>
          <p:cNvPr id="24" name="Text 18"/>
          <p:cNvSpPr txBox="1"/>
          <p:nvPr/>
        </p:nvSpPr>
        <p:spPr>
          <a:xfrm>
            <a:off x="4401190" y="4526280"/>
            <a:ext cx="1508760" cy="320040"/>
          </a:xfrm>
          <a:prstGeom prst="rect">
            <a:avLst/>
          </a:prstGeom>
          <a:noFill/>
          <a:ln/>
        </p:spPr>
        <p:txBody>
          <a:bodyPr wrap="square" lIns="0" tIns="0" rIns="0" bIns="0" rtlCol="0" anchor="t"/>
          <a:lstStyle/>
          <a:p>
            <a:pPr algn="ctr" indent="0" marL="0">
              <a:buNone/>
            </a:pPr>
            <a:r>
              <a:rPr lang="en-US" sz="1200" dirty="0">
                <a:solidFill>
                  <a:srgbClr val="5E7080"/>
                </a:solidFill>
                <a:latin typeface="Courier New" pitchFamily="34" charset="0"/>
                <a:ea typeface="Courier New" pitchFamily="34" charset="-122"/>
                <a:cs typeface="Courier New" pitchFamily="34" charset="-120"/>
              </a:rPr>
              <a:t>nlp/</a:t>
            </a:r>
            <a:endParaRPr lang="en-US" sz="1200" dirty="0"/>
          </a:p>
        </p:txBody>
      </p:sp>
      <p:sp>
        <p:nvSpPr>
          <p:cNvPr id="25" name="arrow 3"/>
          <p:cNvSpPr/>
          <p:nvPr/>
        </p:nvSpPr>
        <p:spPr>
          <a:xfrm>
            <a:off x="6010534" y="3364992"/>
            <a:ext cx="170627" cy="256032"/>
          </a:xfrm>
          <a:prstGeom prst="rightArrow">
            <a:avLst/>
          </a:prstGeom>
          <a:solidFill>
            <a:srgbClr val="7BB8B0"/>
          </a:solidFill>
          <a:ln w="6350">
            <a:solidFill>
              <a:srgbClr val="7BB8B0"/>
            </a:solidFill>
            <a:prstDash val="solid"/>
          </a:ln>
        </p:spPr>
      </p:sp>
      <p:sp>
        <p:nvSpPr>
          <p:cNvPr id="26" name="pipeline step Classify"/>
          <p:cNvSpPr/>
          <p:nvPr/>
        </p:nvSpPr>
        <p:spPr>
          <a:xfrm>
            <a:off x="6190305" y="2011680"/>
            <a:ext cx="1691640" cy="3017520"/>
          </a:xfrm>
          <a:prstGeom prst="roundRect">
            <a:avLst>
              <a:gd name="adj" fmla="val 5405"/>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27" name="Classify circle"/>
          <p:cNvSpPr/>
          <p:nvPr/>
        </p:nvSpPr>
        <p:spPr>
          <a:xfrm>
            <a:off x="6716085" y="2194560"/>
            <a:ext cx="640080" cy="640080"/>
          </a:xfrm>
          <a:prstGeom prst="ellipse">
            <a:avLst/>
          </a:prstGeom>
          <a:solidFill>
            <a:srgbClr val="3F7CAC"/>
          </a:solidFill>
          <a:ln w="6350">
            <a:solidFill>
              <a:srgbClr val="3F7CAC"/>
            </a:solidFill>
            <a:prstDash val="solid"/>
          </a:ln>
        </p:spPr>
      </p:sp>
      <p:pic>
        <p:nvPicPr>
          <p:cNvPr id="28" name="Image 3" descr="Classify">    </p:cNvPr>
          <p:cNvPicPr>
            <a:picLocks noChangeAspect="1"/>
          </p:cNvPicPr>
          <p:nvPr/>
        </p:nvPicPr>
        <p:blipFill>
          <a:blip r:embed="rId4"/>
          <a:stretch>
            <a:fillRect/>
          </a:stretch>
        </p:blipFill>
        <p:spPr>
          <a:xfrm>
            <a:off x="6869704" y="2348179"/>
            <a:ext cx="332842" cy="332842"/>
          </a:xfrm>
          <a:prstGeom prst="rect">
            <a:avLst/>
          </a:prstGeom>
        </p:spPr>
      </p:pic>
      <p:sp>
        <p:nvSpPr>
          <p:cNvPr id="29" name="Text 22"/>
          <p:cNvSpPr txBox="1"/>
          <p:nvPr/>
        </p:nvSpPr>
        <p:spPr>
          <a:xfrm>
            <a:off x="6327465" y="2971800"/>
            <a:ext cx="1417320"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4. Classify</a:t>
            </a:r>
            <a:endParaRPr lang="en-US" sz="1800" dirty="0"/>
          </a:p>
        </p:txBody>
      </p:sp>
      <p:sp>
        <p:nvSpPr>
          <p:cNvPr id="30" name="Text 23"/>
          <p:cNvSpPr txBox="1"/>
          <p:nvPr/>
        </p:nvSpPr>
        <p:spPr>
          <a:xfrm>
            <a:off x="6327465" y="3429000"/>
            <a:ext cx="1417320" cy="100584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Weighted keyword rules into 10 role categories</a:t>
            </a:r>
            <a:endParaRPr lang="en-US" sz="1400" dirty="0"/>
          </a:p>
        </p:txBody>
      </p:sp>
      <p:sp>
        <p:nvSpPr>
          <p:cNvPr id="31" name="Text 24"/>
          <p:cNvSpPr txBox="1"/>
          <p:nvPr/>
        </p:nvSpPr>
        <p:spPr>
          <a:xfrm>
            <a:off x="6281745" y="4526280"/>
            <a:ext cx="1508760" cy="320040"/>
          </a:xfrm>
          <a:prstGeom prst="rect">
            <a:avLst/>
          </a:prstGeom>
          <a:noFill/>
          <a:ln/>
        </p:spPr>
        <p:txBody>
          <a:bodyPr wrap="square" lIns="0" tIns="0" rIns="0" bIns="0" rtlCol="0" anchor="t"/>
          <a:lstStyle/>
          <a:p>
            <a:pPr algn="ctr" indent="0" marL="0">
              <a:buNone/>
            </a:pPr>
            <a:r>
              <a:rPr lang="en-US" sz="1200" dirty="0">
                <a:solidFill>
                  <a:srgbClr val="5E7080"/>
                </a:solidFill>
                <a:latin typeface="Courier New" pitchFamily="34" charset="0"/>
                <a:ea typeface="Courier New" pitchFamily="34" charset="-122"/>
                <a:cs typeface="Courier New" pitchFamily="34" charset="-120"/>
              </a:rPr>
              <a:t>nlp/classifier</a:t>
            </a:r>
            <a:endParaRPr lang="en-US" sz="1200" dirty="0"/>
          </a:p>
        </p:txBody>
      </p:sp>
      <p:sp>
        <p:nvSpPr>
          <p:cNvPr id="32" name="arrow 4"/>
          <p:cNvSpPr/>
          <p:nvPr/>
        </p:nvSpPr>
        <p:spPr>
          <a:xfrm>
            <a:off x="7891089" y="3364992"/>
            <a:ext cx="170627" cy="256032"/>
          </a:xfrm>
          <a:prstGeom prst="rightArrow">
            <a:avLst/>
          </a:prstGeom>
          <a:solidFill>
            <a:srgbClr val="7BB8B0"/>
          </a:solidFill>
          <a:ln w="6350">
            <a:solidFill>
              <a:srgbClr val="7BB8B0"/>
            </a:solidFill>
            <a:prstDash val="solid"/>
          </a:ln>
        </p:spPr>
      </p:sp>
      <p:sp>
        <p:nvSpPr>
          <p:cNvPr id="33" name="pipeline step Analyse"/>
          <p:cNvSpPr/>
          <p:nvPr/>
        </p:nvSpPr>
        <p:spPr>
          <a:xfrm>
            <a:off x="8070860" y="2011680"/>
            <a:ext cx="1691640" cy="3017520"/>
          </a:xfrm>
          <a:prstGeom prst="roundRect">
            <a:avLst>
              <a:gd name="adj" fmla="val 5405"/>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34" name="Analyse circle"/>
          <p:cNvSpPr/>
          <p:nvPr/>
        </p:nvSpPr>
        <p:spPr>
          <a:xfrm>
            <a:off x="8596640" y="2194560"/>
            <a:ext cx="640080" cy="640080"/>
          </a:xfrm>
          <a:prstGeom prst="ellipse">
            <a:avLst/>
          </a:prstGeom>
          <a:solidFill>
            <a:srgbClr val="0E9AA7"/>
          </a:solidFill>
          <a:ln w="6350">
            <a:solidFill>
              <a:srgbClr val="0E9AA7"/>
            </a:solidFill>
            <a:prstDash val="solid"/>
          </a:ln>
        </p:spPr>
      </p:sp>
      <p:pic>
        <p:nvPicPr>
          <p:cNvPr id="35" name="Image 4" descr="Analyse">    </p:cNvPr>
          <p:cNvPicPr>
            <a:picLocks noChangeAspect="1"/>
          </p:cNvPicPr>
          <p:nvPr/>
        </p:nvPicPr>
        <p:blipFill>
          <a:blip r:embed="rId5"/>
          <a:stretch>
            <a:fillRect/>
          </a:stretch>
        </p:blipFill>
        <p:spPr>
          <a:xfrm>
            <a:off x="8750259" y="2348179"/>
            <a:ext cx="332842" cy="332842"/>
          </a:xfrm>
          <a:prstGeom prst="rect">
            <a:avLst/>
          </a:prstGeom>
        </p:spPr>
      </p:pic>
      <p:sp>
        <p:nvSpPr>
          <p:cNvPr id="36" name="Text 28"/>
          <p:cNvSpPr txBox="1"/>
          <p:nvPr/>
        </p:nvSpPr>
        <p:spPr>
          <a:xfrm>
            <a:off x="8208020" y="2971800"/>
            <a:ext cx="1417320"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5. Analyse</a:t>
            </a:r>
            <a:endParaRPr lang="en-US" sz="1800" dirty="0"/>
          </a:p>
        </p:txBody>
      </p:sp>
      <p:sp>
        <p:nvSpPr>
          <p:cNvPr id="37" name="Text 29"/>
          <p:cNvSpPr txBox="1"/>
          <p:nvPr/>
        </p:nvSpPr>
        <p:spPr>
          <a:xfrm>
            <a:off x="8208020" y="3429000"/>
            <a:ext cx="1417320" cy="100584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Counts, shares, co-occurrence, text statistics</a:t>
            </a:r>
            <a:endParaRPr lang="en-US" sz="1400" dirty="0"/>
          </a:p>
        </p:txBody>
      </p:sp>
      <p:sp>
        <p:nvSpPr>
          <p:cNvPr id="38" name="Text 30"/>
          <p:cNvSpPr txBox="1"/>
          <p:nvPr/>
        </p:nvSpPr>
        <p:spPr>
          <a:xfrm>
            <a:off x="8162300" y="4526280"/>
            <a:ext cx="1508760" cy="320040"/>
          </a:xfrm>
          <a:prstGeom prst="rect">
            <a:avLst/>
          </a:prstGeom>
          <a:noFill/>
          <a:ln/>
        </p:spPr>
        <p:txBody>
          <a:bodyPr wrap="square" lIns="0" tIns="0" rIns="0" bIns="0" rtlCol="0" anchor="t"/>
          <a:lstStyle/>
          <a:p>
            <a:pPr algn="ctr" indent="0" marL="0">
              <a:buNone/>
            </a:pPr>
            <a:r>
              <a:rPr lang="en-US" sz="1200" dirty="0">
                <a:solidFill>
                  <a:srgbClr val="5E7080"/>
                </a:solidFill>
                <a:latin typeface="Courier New" pitchFamily="34" charset="0"/>
                <a:ea typeface="Courier New" pitchFamily="34" charset="-122"/>
                <a:cs typeface="Courier New" pitchFamily="34" charset="-120"/>
              </a:rPr>
              <a:t>twsma_service</a:t>
            </a:r>
            <a:endParaRPr lang="en-US" sz="1200" dirty="0"/>
          </a:p>
        </p:txBody>
      </p:sp>
      <p:sp>
        <p:nvSpPr>
          <p:cNvPr id="39" name="arrow 5"/>
          <p:cNvSpPr/>
          <p:nvPr/>
        </p:nvSpPr>
        <p:spPr>
          <a:xfrm>
            <a:off x="9771644" y="3364992"/>
            <a:ext cx="170627" cy="256032"/>
          </a:xfrm>
          <a:prstGeom prst="rightArrow">
            <a:avLst/>
          </a:prstGeom>
          <a:solidFill>
            <a:srgbClr val="7BB8B0"/>
          </a:solidFill>
          <a:ln w="6350">
            <a:solidFill>
              <a:srgbClr val="7BB8B0"/>
            </a:solidFill>
            <a:prstDash val="solid"/>
          </a:ln>
        </p:spPr>
      </p:sp>
      <p:sp>
        <p:nvSpPr>
          <p:cNvPr id="40" name="pipeline step Serve"/>
          <p:cNvSpPr/>
          <p:nvPr/>
        </p:nvSpPr>
        <p:spPr>
          <a:xfrm>
            <a:off x="9951415" y="2011680"/>
            <a:ext cx="1691640" cy="3017520"/>
          </a:xfrm>
          <a:prstGeom prst="roundRect">
            <a:avLst>
              <a:gd name="adj" fmla="val 5405"/>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41" name="Serve circle"/>
          <p:cNvSpPr/>
          <p:nvPr/>
        </p:nvSpPr>
        <p:spPr>
          <a:xfrm>
            <a:off x="10477195" y="2194560"/>
            <a:ext cx="640080" cy="640080"/>
          </a:xfrm>
          <a:prstGeom prst="ellipse">
            <a:avLst/>
          </a:prstGeom>
          <a:solidFill>
            <a:srgbClr val="3F7CAC"/>
          </a:solidFill>
          <a:ln w="6350">
            <a:solidFill>
              <a:srgbClr val="3F7CAC"/>
            </a:solidFill>
            <a:prstDash val="solid"/>
          </a:ln>
        </p:spPr>
      </p:sp>
      <p:pic>
        <p:nvPicPr>
          <p:cNvPr id="42" name="Image 5" descr="Serve">    </p:cNvPr>
          <p:cNvPicPr>
            <a:picLocks noChangeAspect="1"/>
          </p:cNvPicPr>
          <p:nvPr/>
        </p:nvPicPr>
        <p:blipFill>
          <a:blip r:embed="rId6"/>
          <a:stretch>
            <a:fillRect/>
          </a:stretch>
        </p:blipFill>
        <p:spPr>
          <a:xfrm>
            <a:off x="10630814" y="2348179"/>
            <a:ext cx="332842" cy="332842"/>
          </a:xfrm>
          <a:prstGeom prst="rect">
            <a:avLst/>
          </a:prstGeom>
        </p:spPr>
      </p:pic>
      <p:sp>
        <p:nvSpPr>
          <p:cNvPr id="43" name="Text 34"/>
          <p:cNvSpPr txBox="1"/>
          <p:nvPr/>
        </p:nvSpPr>
        <p:spPr>
          <a:xfrm>
            <a:off x="10088575" y="2971800"/>
            <a:ext cx="1417320"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6. Serve</a:t>
            </a:r>
            <a:endParaRPr lang="en-US" sz="1800" dirty="0"/>
          </a:p>
        </p:txBody>
      </p:sp>
      <p:sp>
        <p:nvSpPr>
          <p:cNvPr id="44" name="Text 35"/>
          <p:cNvSpPr txBox="1"/>
          <p:nvPr/>
        </p:nvSpPr>
        <p:spPr>
          <a:xfrm>
            <a:off x="10088575" y="3429000"/>
            <a:ext cx="1417320" cy="100584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One API endpoint, cached dashboard</a:t>
            </a:r>
            <a:endParaRPr lang="en-US" sz="1400" dirty="0"/>
          </a:p>
        </p:txBody>
      </p:sp>
      <p:sp>
        <p:nvSpPr>
          <p:cNvPr id="45" name="Text 36"/>
          <p:cNvSpPr txBox="1"/>
          <p:nvPr/>
        </p:nvSpPr>
        <p:spPr>
          <a:xfrm>
            <a:off x="10042855" y="4526280"/>
            <a:ext cx="1508760" cy="320040"/>
          </a:xfrm>
          <a:prstGeom prst="rect">
            <a:avLst/>
          </a:prstGeom>
          <a:noFill/>
          <a:ln/>
        </p:spPr>
        <p:txBody>
          <a:bodyPr wrap="square" lIns="0" tIns="0" rIns="0" bIns="0" rtlCol="0" anchor="t"/>
          <a:lstStyle/>
          <a:p>
            <a:pPr algn="ctr" indent="0" marL="0">
              <a:buNone/>
            </a:pPr>
            <a:r>
              <a:rPr lang="en-US" sz="1200" dirty="0">
                <a:solidFill>
                  <a:srgbClr val="5E7080"/>
                </a:solidFill>
                <a:latin typeface="Courier New" pitchFamily="34" charset="0"/>
                <a:ea typeface="Courier New" pitchFamily="34" charset="-122"/>
                <a:cs typeface="Courier New" pitchFamily="34" charset="-120"/>
              </a:rPr>
              <a:t>/analytics/twsma</a:t>
            </a:r>
            <a:endParaRPr lang="en-US" sz="1200" dirty="0"/>
          </a:p>
        </p:txBody>
      </p:sp>
      <p:sp>
        <p:nvSpPr>
          <p:cNvPr id="46" name="Text 37"/>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1600" i="1" dirty="0">
                <a:solidFill>
                  <a:srgbClr val="5E7080"/>
                </a:solidFill>
                <a:latin typeface="Calibri" pitchFamily="34" charset="0"/>
                <a:ea typeface="Calibri" pitchFamily="34" charset="-122"/>
                <a:cs typeface="Calibri" pitchFamily="34" charset="-120"/>
              </a:rPr>
              <a:t>Scope: the collected sample of postings, not the whole job market.</a:t>
            </a:r>
            <a:endParaRPr lang="en-US" sz="16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0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Three web sources, two kinds of text</a:t>
            </a:r>
            <a:endParaRPr lang="en-US" sz="3400" dirty="0"/>
          </a:p>
        </p:txBody>
      </p:sp>
      <p:sp>
        <p:nvSpPr>
          <p:cNvPr id="3" name="Text 1"/>
          <p:cNvSpPr/>
          <p:nvPr>
            <p:ph idx="102" type="body" hasCustomPrompt="1"/>
          </p:nvPr>
        </p:nvSpPr>
        <p:spPr>
          <a:xfrm>
            <a:off x="548640" y="1133856"/>
            <a:ext cx="11094415" cy="502920"/>
          </a:xfrm>
          <a:prstGeom prst="rect">
            <a:avLst/>
          </a:prstGeom>
          <a:noFill/>
          <a:ln/>
        </p:spPr>
        <p:txBody>
          <a:bodyPr wrap="square" lIns="0" tIns="0" rIns="0" bIns="0" rtlCol="0" anchor="t"/>
          <a:lstStyle/>
          <a:p>
            <a:pPr algn="l" indent="0" marL="0">
              <a:buNone/>
            </a:pPr>
            <a:r>
              <a:rPr lang="en-US" sz="1800" dirty="0">
                <a:solidFill>
                  <a:schemeClr val="accent6"/>
                </a:solidFill>
              </a:rPr>
              <a:t>Adzuna returns short snippets; company boards return complete postings.</a:t>
            </a:r>
            <a:endParaRPr lang="en-US" sz="1800" dirty="0"/>
          </a:p>
        </p:txBody>
      </p:sp>
      <p:sp>
        <p:nvSpPr>
          <p:cNvPr id="5" name="Text 2"/>
          <p:cNvSpPr txBox="1"/>
          <p:nvPr/>
        </p:nvSpPr>
        <p:spPr>
          <a:xfrm>
            <a:off x="548640" y="1783080"/>
            <a:ext cx="539496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Average description length (characters)</a:t>
            </a:r>
            <a:endParaRPr lang="en-US" sz="1500" dirty="0"/>
          </a:p>
        </p:txBody>
      </p:sp>
      <p:graphicFrame>
        <p:nvGraphicFramePr>
          <p:cNvPr id="6" name="Chart 0" descr=""/>
          <p:cNvGraphicFramePr/>
          <p:nvPr/>
        </p:nvGraphicFramePr>
        <p:xfrm>
          <a:off x="548640" y="2103120"/>
          <a:ext cx="5394960" cy="3977640"/>
        </p:xfrm>
        <a:graphic xmlns:a="http://schemas.openxmlformats.org/drawingml/2006/main">
          <a:graphicData uri="http://schemas.openxmlformats.org/drawingml/2006/chart">
            <c:chart xmlns:c="http://schemas.openxmlformats.org/drawingml/2006/chart" r:id="rId1"/>
          </a:graphicData>
        </a:graphic>
      </p:graphicFrame>
      <p:sp>
        <p:nvSpPr>
          <p:cNvPr id="7" name="source card Adzuna API"/>
          <p:cNvSpPr/>
          <p:nvPr/>
        </p:nvSpPr>
        <p:spPr>
          <a:xfrm>
            <a:off x="6355080" y="1828800"/>
            <a:ext cx="5285232" cy="1325880"/>
          </a:xfrm>
          <a:prstGeom prst="roundRect">
            <a:avLst>
              <a:gd name="adj" fmla="val 6897"/>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8" name="Text 4"/>
          <p:cNvSpPr txBox="1"/>
          <p:nvPr/>
        </p:nvSpPr>
        <p:spPr>
          <a:xfrm>
            <a:off x="6583680" y="1938528"/>
            <a:ext cx="1371600" cy="640080"/>
          </a:xfrm>
          <a:prstGeom prst="rect">
            <a:avLst/>
          </a:prstGeom>
          <a:noFill/>
          <a:ln/>
        </p:spPr>
        <p:txBody>
          <a:bodyPr wrap="square" lIns="0" tIns="0" rIns="0" bIns="0" rtlCol="0" anchor="ctr"/>
          <a:lstStyle/>
          <a:p>
            <a:pPr indent="0" marL="0">
              <a:buNone/>
            </a:pPr>
            <a:r>
              <a:rPr lang="en-US" sz="3200" b="1" dirty="0">
                <a:solidFill>
                  <a:srgbClr val="0E9AA7"/>
                </a:solidFill>
                <a:latin typeface="Cambria" pitchFamily="34" charset="0"/>
                <a:ea typeface="Cambria" pitchFamily="34" charset="-122"/>
                <a:cs typeface="Cambria" pitchFamily="34" charset="-120"/>
              </a:rPr>
              <a:t>2,433</a:t>
            </a:r>
            <a:endParaRPr lang="en-US" sz="3200" dirty="0"/>
          </a:p>
        </p:txBody>
      </p:sp>
      <p:sp>
        <p:nvSpPr>
          <p:cNvPr id="9" name="Text 5"/>
          <p:cNvSpPr txBox="1"/>
          <p:nvPr/>
        </p:nvSpPr>
        <p:spPr>
          <a:xfrm>
            <a:off x="6583680" y="2578608"/>
            <a:ext cx="1371600" cy="320040"/>
          </a:xfrm>
          <a:prstGeom prst="rect">
            <a:avLst/>
          </a:prstGeom>
          <a:noFill/>
          <a:ln/>
        </p:spPr>
        <p:txBody>
          <a:bodyPr wrap="square" lIns="0" tIns="0" rIns="0" bIns="0" rtlCol="0" anchor="t"/>
          <a:lstStyle/>
          <a:p>
            <a:pPr indent="0" marL="0">
              <a:buNone/>
            </a:pPr>
            <a:r>
              <a:rPr lang="en-US" sz="1300" dirty="0">
                <a:solidFill>
                  <a:srgbClr val="5E7080"/>
                </a:solidFill>
                <a:latin typeface="Calibri" pitchFamily="34" charset="0"/>
                <a:ea typeface="Calibri" pitchFamily="34" charset="-122"/>
                <a:cs typeface="Calibri" pitchFamily="34" charset="-120"/>
              </a:rPr>
              <a:t>postings</a:t>
            </a:r>
            <a:endParaRPr lang="en-US" sz="1300" dirty="0"/>
          </a:p>
        </p:txBody>
      </p:sp>
      <p:sp>
        <p:nvSpPr>
          <p:cNvPr id="10" name="Text 6"/>
          <p:cNvSpPr txBox="1"/>
          <p:nvPr/>
        </p:nvSpPr>
        <p:spPr>
          <a:xfrm>
            <a:off x="8046720" y="1965960"/>
            <a:ext cx="347472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Adzuna API</a:t>
            </a:r>
            <a:endParaRPr lang="en-US" sz="1800" dirty="0"/>
          </a:p>
        </p:txBody>
      </p:sp>
      <p:sp>
        <p:nvSpPr>
          <p:cNvPr id="11" name="Text 7"/>
          <p:cNvSpPr txBox="1"/>
          <p:nvPr/>
        </p:nvSpPr>
        <p:spPr>
          <a:xfrm>
            <a:off x="8046720" y="2377440"/>
            <a:ext cx="347472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Keyed search. About 500-character snippets: 1.77 skills per posting.</a:t>
            </a:r>
            <a:endParaRPr lang="en-US" sz="1400" dirty="0"/>
          </a:p>
        </p:txBody>
      </p:sp>
      <p:sp>
        <p:nvSpPr>
          <p:cNvPr id="12" name="source card Greenhouse boards"/>
          <p:cNvSpPr/>
          <p:nvPr/>
        </p:nvSpPr>
        <p:spPr>
          <a:xfrm>
            <a:off x="6355080" y="3291840"/>
            <a:ext cx="5285232" cy="1325880"/>
          </a:xfrm>
          <a:prstGeom prst="roundRect">
            <a:avLst>
              <a:gd name="adj" fmla="val 6897"/>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13" name="Text 9"/>
          <p:cNvSpPr txBox="1"/>
          <p:nvPr/>
        </p:nvSpPr>
        <p:spPr>
          <a:xfrm>
            <a:off x="6583680" y="3401568"/>
            <a:ext cx="1371600" cy="640080"/>
          </a:xfrm>
          <a:prstGeom prst="rect">
            <a:avLst/>
          </a:prstGeom>
          <a:noFill/>
          <a:ln/>
        </p:spPr>
        <p:txBody>
          <a:bodyPr wrap="square" lIns="0" tIns="0" rIns="0" bIns="0" rtlCol="0" anchor="ctr"/>
          <a:lstStyle/>
          <a:p>
            <a:pPr indent="0" marL="0">
              <a:buNone/>
            </a:pPr>
            <a:r>
              <a:rPr lang="en-US" sz="3200" b="1" dirty="0">
                <a:solidFill>
                  <a:srgbClr val="0E9AA7"/>
                </a:solidFill>
                <a:latin typeface="Cambria" pitchFamily="34" charset="0"/>
                <a:ea typeface="Cambria" pitchFamily="34" charset="-122"/>
                <a:cs typeface="Cambria" pitchFamily="34" charset="-120"/>
              </a:rPr>
              <a:t>393</a:t>
            </a:r>
            <a:endParaRPr lang="en-US" sz="3200" dirty="0"/>
          </a:p>
        </p:txBody>
      </p:sp>
      <p:sp>
        <p:nvSpPr>
          <p:cNvPr id="14" name="Text 10"/>
          <p:cNvSpPr txBox="1"/>
          <p:nvPr/>
        </p:nvSpPr>
        <p:spPr>
          <a:xfrm>
            <a:off x="6583680" y="4041648"/>
            <a:ext cx="1371600" cy="320040"/>
          </a:xfrm>
          <a:prstGeom prst="rect">
            <a:avLst/>
          </a:prstGeom>
          <a:noFill/>
          <a:ln/>
        </p:spPr>
        <p:txBody>
          <a:bodyPr wrap="square" lIns="0" tIns="0" rIns="0" bIns="0" rtlCol="0" anchor="t"/>
          <a:lstStyle/>
          <a:p>
            <a:pPr indent="0" marL="0">
              <a:buNone/>
            </a:pPr>
            <a:r>
              <a:rPr lang="en-US" sz="1300" dirty="0">
                <a:solidFill>
                  <a:srgbClr val="5E7080"/>
                </a:solidFill>
                <a:latin typeface="Calibri" pitchFamily="34" charset="0"/>
                <a:ea typeface="Calibri" pitchFamily="34" charset="-122"/>
                <a:cs typeface="Calibri" pitchFamily="34" charset="-120"/>
              </a:rPr>
              <a:t>postings</a:t>
            </a:r>
            <a:endParaRPr lang="en-US" sz="1300" dirty="0"/>
          </a:p>
        </p:txBody>
      </p:sp>
      <p:sp>
        <p:nvSpPr>
          <p:cNvPr id="15" name="Text 11"/>
          <p:cNvSpPr txBox="1"/>
          <p:nvPr/>
        </p:nvSpPr>
        <p:spPr>
          <a:xfrm>
            <a:off x="8046720" y="3429000"/>
            <a:ext cx="347472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Greenhouse boards</a:t>
            </a:r>
            <a:endParaRPr lang="en-US" sz="1800" dirty="0"/>
          </a:p>
        </p:txBody>
      </p:sp>
      <p:sp>
        <p:nvSpPr>
          <p:cNvPr id="16" name="Text 12"/>
          <p:cNvSpPr txBox="1"/>
          <p:nvPr/>
        </p:nvSpPr>
        <p:spPr>
          <a:xfrm>
            <a:off x="8046720" y="3840480"/>
            <a:ext cx="347472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Public and keyless. Full descriptions: 7.67 skills per posting.</a:t>
            </a:r>
            <a:endParaRPr lang="en-US" sz="1400" dirty="0"/>
          </a:p>
        </p:txBody>
      </p:sp>
      <p:sp>
        <p:nvSpPr>
          <p:cNvPr id="17" name="source card Lever boards"/>
          <p:cNvSpPr/>
          <p:nvPr/>
        </p:nvSpPr>
        <p:spPr>
          <a:xfrm>
            <a:off x="6355080" y="4754880"/>
            <a:ext cx="5285232" cy="1325880"/>
          </a:xfrm>
          <a:prstGeom prst="roundRect">
            <a:avLst>
              <a:gd name="adj" fmla="val 6897"/>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18" name="Text 14"/>
          <p:cNvSpPr txBox="1"/>
          <p:nvPr/>
        </p:nvSpPr>
        <p:spPr>
          <a:xfrm>
            <a:off x="6583680" y="4864608"/>
            <a:ext cx="1371600" cy="640080"/>
          </a:xfrm>
          <a:prstGeom prst="rect">
            <a:avLst/>
          </a:prstGeom>
          <a:noFill/>
          <a:ln/>
        </p:spPr>
        <p:txBody>
          <a:bodyPr wrap="square" lIns="0" tIns="0" rIns="0" bIns="0" rtlCol="0" anchor="ctr"/>
          <a:lstStyle/>
          <a:p>
            <a:pPr indent="0" marL="0">
              <a:buNone/>
            </a:pPr>
            <a:r>
              <a:rPr lang="en-US" sz="3200" b="1" dirty="0">
                <a:solidFill>
                  <a:srgbClr val="0E9AA7"/>
                </a:solidFill>
                <a:latin typeface="Cambria" pitchFamily="34" charset="0"/>
                <a:ea typeface="Cambria" pitchFamily="34" charset="-122"/>
                <a:cs typeface="Cambria" pitchFamily="34" charset="-120"/>
              </a:rPr>
              <a:t>253</a:t>
            </a:r>
            <a:endParaRPr lang="en-US" sz="3200" dirty="0"/>
          </a:p>
        </p:txBody>
      </p:sp>
      <p:sp>
        <p:nvSpPr>
          <p:cNvPr id="19" name="Text 15"/>
          <p:cNvSpPr txBox="1"/>
          <p:nvPr/>
        </p:nvSpPr>
        <p:spPr>
          <a:xfrm>
            <a:off x="6583680" y="5504688"/>
            <a:ext cx="1371600" cy="320040"/>
          </a:xfrm>
          <a:prstGeom prst="rect">
            <a:avLst/>
          </a:prstGeom>
          <a:noFill/>
          <a:ln/>
        </p:spPr>
        <p:txBody>
          <a:bodyPr wrap="square" lIns="0" tIns="0" rIns="0" bIns="0" rtlCol="0" anchor="t"/>
          <a:lstStyle/>
          <a:p>
            <a:pPr indent="0" marL="0">
              <a:buNone/>
            </a:pPr>
            <a:r>
              <a:rPr lang="en-US" sz="1300" dirty="0">
                <a:solidFill>
                  <a:srgbClr val="5E7080"/>
                </a:solidFill>
                <a:latin typeface="Calibri" pitchFamily="34" charset="0"/>
                <a:ea typeface="Calibri" pitchFamily="34" charset="-122"/>
                <a:cs typeface="Calibri" pitchFamily="34" charset="-120"/>
              </a:rPr>
              <a:t>postings</a:t>
            </a:r>
            <a:endParaRPr lang="en-US" sz="1300" dirty="0"/>
          </a:p>
        </p:txBody>
      </p:sp>
      <p:sp>
        <p:nvSpPr>
          <p:cNvPr id="20" name="Text 16"/>
          <p:cNvSpPr txBox="1"/>
          <p:nvPr/>
        </p:nvSpPr>
        <p:spPr>
          <a:xfrm>
            <a:off x="8046720" y="4892040"/>
            <a:ext cx="347472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Lever boards</a:t>
            </a:r>
            <a:endParaRPr lang="en-US" sz="1800" dirty="0"/>
          </a:p>
        </p:txBody>
      </p:sp>
      <p:sp>
        <p:nvSpPr>
          <p:cNvPr id="21" name="Text 17"/>
          <p:cNvSpPr txBox="1"/>
          <p:nvPr/>
        </p:nvSpPr>
        <p:spPr>
          <a:xfrm>
            <a:off x="8046720" y="5303520"/>
            <a:ext cx="347472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Public and keyless. Full descriptions: 4.21 skills per posting.</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0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Cleaning and skill extraction</a:t>
            </a:r>
            <a:endParaRPr lang="en-US" sz="3400" dirty="0"/>
          </a:p>
        </p:txBody>
      </p:sp>
      <p:sp>
        <p:nvSpPr>
          <p:cNvPr id="3" name="Text 1"/>
          <p:cNvSpPr/>
          <p:nvPr>
            <p:ph idx="102" type="body" hasCustomPrompt="1"/>
          </p:nvPr>
        </p:nvSpPr>
        <p:spPr>
          <a:xfrm>
            <a:off x="548640" y="1133856"/>
            <a:ext cx="11094415" cy="502920"/>
          </a:xfrm>
          <a:prstGeom prst="rect">
            <a:avLst/>
          </a:prstGeom>
          <a:noFill/>
          <a:ln/>
        </p:spPr>
        <p:txBody>
          <a:bodyPr wrap="square" lIns="0" tIns="0" rIns="0" bIns="0" rtlCol="0" anchor="t"/>
          <a:lstStyle/>
          <a:p>
            <a:pPr algn="l" indent="0" marL="0">
              <a:buNone/>
            </a:pPr>
            <a:r>
              <a:rPr lang="en-US" sz="1800" dirty="0">
                <a:solidFill>
                  <a:schemeClr val="accent6"/>
                </a:solidFill>
              </a:rPr>
              <a:t>From escaped HTML to a list of skills, with rules you can trace.</a:t>
            </a:r>
            <a:endParaRPr lang="en-US" sz="1800" dirty="0"/>
          </a:p>
        </p:txBody>
      </p:sp>
      <p:sp>
        <p:nvSpPr>
          <p:cNvPr id="5" name="text card Raw, as delivered"/>
          <p:cNvSpPr/>
          <p:nvPr/>
        </p:nvSpPr>
        <p:spPr>
          <a:xfrm>
            <a:off x="548640" y="1783080"/>
            <a:ext cx="5285232" cy="1600200"/>
          </a:xfrm>
          <a:prstGeom prst="roundRect">
            <a:avLst>
              <a:gd name="adj" fmla="val 5714"/>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6" name="pill Raw, as delivered"/>
          <p:cNvSpPr/>
          <p:nvPr/>
        </p:nvSpPr>
        <p:spPr>
          <a:xfrm>
            <a:off x="777240" y="1892808"/>
            <a:ext cx="1920240" cy="292608"/>
          </a:xfrm>
          <a:prstGeom prst="roundRect">
            <a:avLst>
              <a:gd name="adj" fmla="val 50000"/>
            </a:avLst>
          </a:prstGeom>
          <a:solidFill>
            <a:srgbClr val="F2A541"/>
          </a:solidFill>
          <a:ln w="6350">
            <a:solidFill>
              <a:srgbClr val="F2A541"/>
            </a:solidFill>
            <a:prstDash val="solid"/>
          </a:ln>
        </p:spPr>
      </p:sp>
      <p:sp>
        <p:nvSpPr>
          <p:cNvPr id="7" name="Text 4"/>
          <p:cNvSpPr txBox="1"/>
          <p:nvPr/>
        </p:nvSpPr>
        <p:spPr>
          <a:xfrm>
            <a:off x="777240" y="1892808"/>
            <a:ext cx="1920240" cy="292608"/>
          </a:xfrm>
          <a:prstGeom prst="rect">
            <a:avLst/>
          </a:prstGeom>
          <a:noFill/>
          <a:ln/>
        </p:spPr>
        <p:txBody>
          <a:bodyPr wrap="square" lIns="0" tIns="0" rIns="0" bIns="0" rtlCol="0" anchor="ctr"/>
          <a:lstStyle/>
          <a:p>
            <a:pPr algn="ctr" indent="0" marL="0">
              <a:buNone/>
            </a:pPr>
            <a:r>
              <a:rPr lang="en-US" sz="1200" b="1" dirty="0">
                <a:solidFill>
                  <a:srgbClr val="1B2733"/>
                </a:solidFill>
                <a:latin typeface="Calibri" pitchFamily="34" charset="0"/>
                <a:ea typeface="Calibri" pitchFamily="34" charset="-122"/>
                <a:cs typeface="Calibri" pitchFamily="34" charset="-120"/>
              </a:rPr>
              <a:t>Raw, as delivered</a:t>
            </a:r>
            <a:endParaRPr lang="en-US" sz="1200" dirty="0"/>
          </a:p>
        </p:txBody>
      </p:sp>
      <p:sp>
        <p:nvSpPr>
          <p:cNvPr id="8" name="Text 5"/>
          <p:cNvSpPr txBox="1"/>
          <p:nvPr/>
        </p:nvSpPr>
        <p:spPr>
          <a:xfrm>
            <a:off x="777240" y="2286000"/>
            <a:ext cx="4828032" cy="100584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&amp;lt;p&amp;gt;(P-1490)&amp;lt;/p&amp;gt; &amp;lt;p&amp;gt;Databricks processes petabytes of data and billions of transaction events daily - every cluster launch, every …</a:t>
            </a:r>
            <a:endParaRPr lang="en-US" sz="1200" dirty="0"/>
          </a:p>
        </p:txBody>
      </p:sp>
      <p:sp>
        <p:nvSpPr>
          <p:cNvPr id="9" name="text card After cleaning"/>
          <p:cNvSpPr/>
          <p:nvPr/>
        </p:nvSpPr>
        <p:spPr>
          <a:xfrm>
            <a:off x="6355080" y="1783080"/>
            <a:ext cx="5285232" cy="1600200"/>
          </a:xfrm>
          <a:prstGeom prst="roundRect">
            <a:avLst>
              <a:gd name="adj" fmla="val 5714"/>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10" name="pill After cleaning"/>
          <p:cNvSpPr/>
          <p:nvPr/>
        </p:nvSpPr>
        <p:spPr>
          <a:xfrm>
            <a:off x="6583680" y="1892808"/>
            <a:ext cx="1920240" cy="292608"/>
          </a:xfrm>
          <a:prstGeom prst="roundRect">
            <a:avLst>
              <a:gd name="adj" fmla="val 50000"/>
            </a:avLst>
          </a:prstGeom>
          <a:solidFill>
            <a:srgbClr val="0E9AA7"/>
          </a:solidFill>
          <a:ln w="6350">
            <a:solidFill>
              <a:srgbClr val="0E9AA7"/>
            </a:solidFill>
            <a:prstDash val="solid"/>
          </a:ln>
        </p:spPr>
      </p:sp>
      <p:sp>
        <p:nvSpPr>
          <p:cNvPr id="11" name="Text 8"/>
          <p:cNvSpPr txBox="1"/>
          <p:nvPr/>
        </p:nvSpPr>
        <p:spPr>
          <a:xfrm>
            <a:off x="6583680" y="1892808"/>
            <a:ext cx="192024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After cleaning</a:t>
            </a:r>
            <a:endParaRPr lang="en-US" sz="1200" dirty="0"/>
          </a:p>
        </p:txBody>
      </p:sp>
      <p:sp>
        <p:nvSpPr>
          <p:cNvPr id="12" name="Text 9"/>
          <p:cNvSpPr txBox="1"/>
          <p:nvPr/>
        </p:nvSpPr>
        <p:spPr>
          <a:xfrm>
            <a:off x="6583680" y="2286000"/>
            <a:ext cx="4828032" cy="100584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(P-1490) Databricks processes petabytes of data and billions of transaction events daily - every cluster launch, every query executed, every dollar …</a:t>
            </a:r>
            <a:endParaRPr lang="en-US" sz="1200" dirty="0"/>
          </a:p>
        </p:txBody>
      </p:sp>
      <p:sp>
        <p:nvSpPr>
          <p:cNvPr id="13" name="before after arrow"/>
          <p:cNvSpPr/>
          <p:nvPr/>
        </p:nvSpPr>
        <p:spPr>
          <a:xfrm>
            <a:off x="5897880" y="2377440"/>
            <a:ext cx="393192" cy="329184"/>
          </a:xfrm>
          <a:prstGeom prst="rightArrow">
            <a:avLst/>
          </a:prstGeom>
          <a:solidFill>
            <a:srgbClr val="5E7080"/>
          </a:solidFill>
          <a:ln w="6350">
            <a:solidFill>
              <a:srgbClr val="5E7080"/>
            </a:solidFill>
            <a:prstDash val="solid"/>
          </a:ln>
        </p:spPr>
      </p:sp>
      <p:sp>
        <p:nvSpPr>
          <p:cNvPr id="14" name="Text 11"/>
          <p:cNvSpPr txBox="1"/>
          <p:nvPr/>
        </p:nvSpPr>
        <p:spPr>
          <a:xfrm>
            <a:off x="548640" y="3456432"/>
            <a:ext cx="11094415" cy="320040"/>
          </a:xfrm>
          <a:prstGeom prst="rect">
            <a:avLst/>
          </a:prstGeom>
          <a:noFill/>
          <a:ln/>
        </p:spPr>
        <p:txBody>
          <a:bodyPr wrap="square" lIns="0" tIns="0" rIns="0" bIns="0" rtlCol="0" anchor="t"/>
          <a:lstStyle/>
          <a:p>
            <a:pPr indent="0" marL="0">
              <a:buNone/>
            </a:pPr>
            <a:r>
              <a:rPr lang="en-US" sz="1300" i="1" dirty="0">
                <a:solidFill>
                  <a:srgbClr val="5E7080"/>
                </a:solidFill>
                <a:latin typeface="Calibri" pitchFamily="34" charset="0"/>
                <a:ea typeface="Calibri" pitchFamily="34" charset="-122"/>
                <a:cs typeface="Calibri" pitchFamily="34" charset="-120"/>
              </a:rPr>
              <a:t>Also: normalise whitespace, map locations to cities, de-duplicate (source ID, title + company + city), keep missing fields missing.</a:t>
            </a:r>
            <a:endParaRPr lang="en-US" sz="1300" dirty="0"/>
          </a:p>
        </p:txBody>
      </p:sp>
      <p:sp>
        <p:nvSpPr>
          <p:cNvPr id="15" name="extraction rules"/>
          <p:cNvSpPr/>
          <p:nvPr/>
        </p:nvSpPr>
        <p:spPr>
          <a:xfrm>
            <a:off x="548640" y="3931920"/>
            <a:ext cx="5285232" cy="2286000"/>
          </a:xfrm>
          <a:prstGeom prst="roundRect">
            <a:avLst>
              <a:gd name="adj" fmla="val 4000"/>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16" name="Text 13"/>
          <p:cNvSpPr txBox="1"/>
          <p:nvPr/>
        </p:nvSpPr>
        <p:spPr>
          <a:xfrm>
            <a:off x="777240" y="4023360"/>
            <a:ext cx="4846320" cy="3200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Skill extraction rules</a:t>
            </a:r>
            <a:endParaRPr lang="en-US" sz="1600" dirty="0"/>
          </a:p>
        </p:txBody>
      </p:sp>
      <p:sp>
        <p:nvSpPr>
          <p:cNvPr id="17" name="Text 14"/>
          <p:cNvSpPr txBox="1"/>
          <p:nvPr/>
        </p:nvSpPr>
        <p:spPr>
          <a:xfrm>
            <a:off x="777240" y="4434840"/>
            <a:ext cx="4846320" cy="17373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108-skill dictionary with aliases (ml → Machine Learning)</a:t>
            </a:r>
            <a:endParaRPr lang="en-US" sz="1400" dirty="0"/>
          </a:p>
          <a:p>
            <a:pPr marL="203200" indent="-2032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Whole-phrase, longest-first, word-boundary matching</a:t>
            </a:r>
            <a:endParaRPr lang="en-US" sz="1400" dirty="0"/>
          </a:p>
          <a:p>
            <a:pPr marL="203200" indent="-2032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Employer-name filter: MongoDB is no requirement at MongoDB</a:t>
            </a:r>
            <a:endParaRPr lang="en-US" sz="1400" dirty="0"/>
          </a:p>
        </p:txBody>
      </p:sp>
      <p:sp>
        <p:nvSpPr>
          <p:cNvPr id="18" name="extraction demo"/>
          <p:cNvSpPr/>
          <p:nvPr/>
        </p:nvSpPr>
        <p:spPr>
          <a:xfrm>
            <a:off x="6355080" y="3931920"/>
            <a:ext cx="5285232" cy="2286000"/>
          </a:xfrm>
          <a:prstGeom prst="roundRect">
            <a:avLst>
              <a:gd name="adj" fmla="val 4000"/>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19" name="Text 16"/>
          <p:cNvSpPr txBox="1"/>
          <p:nvPr/>
        </p:nvSpPr>
        <p:spPr>
          <a:xfrm>
            <a:off x="6583680" y="4023360"/>
            <a:ext cx="4846320" cy="548640"/>
          </a:xfrm>
          <a:prstGeom prst="rect">
            <a:avLst/>
          </a:prstGeom>
          <a:noFill/>
          <a:ln/>
        </p:spPr>
        <p:txBody>
          <a:bodyPr wrap="square" lIns="0" tIns="0" rIns="0" bIns="0" rtlCol="0" anchor="t"/>
          <a:lstStyle/>
          <a:p>
            <a:pPr indent="0" marL="0">
              <a:buNone/>
            </a:pPr>
            <a:r>
              <a:rPr lang="en-US" sz="1400" i="1" dirty="0">
                <a:solidFill>
                  <a:schemeClr val="tx1"/>
                </a:solidFill>
                <a:latin typeface="Calibri" pitchFamily="34" charset="0"/>
                <a:ea typeface="Calibri" pitchFamily="34" charset="-122"/>
                <a:cs typeface="Calibri" pitchFamily="34" charset="-120"/>
              </a:rPr>
              <a:t>“Strong ml background, SQL and CI/CD experience; Excel a plus”</a:t>
            </a:r>
            <a:endParaRPr lang="en-US" sz="1400" dirty="0"/>
          </a:p>
        </p:txBody>
      </p:sp>
      <p:sp>
        <p:nvSpPr>
          <p:cNvPr id="20" name="pill Microsoft Excel"/>
          <p:cNvSpPr/>
          <p:nvPr/>
        </p:nvSpPr>
        <p:spPr>
          <a:xfrm>
            <a:off x="6583680" y="4663440"/>
            <a:ext cx="1097280" cy="310896"/>
          </a:xfrm>
          <a:prstGeom prst="roundRect">
            <a:avLst>
              <a:gd name="adj" fmla="val 50000"/>
            </a:avLst>
          </a:prstGeom>
          <a:solidFill>
            <a:srgbClr val="0E9AA7"/>
          </a:solidFill>
          <a:ln w="6350">
            <a:solidFill>
              <a:srgbClr val="0E9AA7"/>
            </a:solidFill>
            <a:prstDash val="solid"/>
          </a:ln>
        </p:spPr>
      </p:sp>
      <p:sp>
        <p:nvSpPr>
          <p:cNvPr id="21" name="Text 18"/>
          <p:cNvSpPr txBox="1"/>
          <p:nvPr/>
        </p:nvSpPr>
        <p:spPr>
          <a:xfrm>
            <a:off x="6583680" y="4663440"/>
            <a:ext cx="10972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Microsoft Excel</a:t>
            </a:r>
            <a:endParaRPr lang="en-US" sz="1100" dirty="0"/>
          </a:p>
        </p:txBody>
      </p:sp>
      <p:sp>
        <p:nvSpPr>
          <p:cNvPr id="22" name="pill CI/CD"/>
          <p:cNvSpPr/>
          <p:nvPr/>
        </p:nvSpPr>
        <p:spPr>
          <a:xfrm>
            <a:off x="7772400" y="4663440"/>
            <a:ext cx="1097280" cy="310896"/>
          </a:xfrm>
          <a:prstGeom prst="roundRect">
            <a:avLst>
              <a:gd name="adj" fmla="val 50000"/>
            </a:avLst>
          </a:prstGeom>
          <a:solidFill>
            <a:srgbClr val="0E9AA7"/>
          </a:solidFill>
          <a:ln w="6350">
            <a:solidFill>
              <a:srgbClr val="0E9AA7"/>
            </a:solidFill>
            <a:prstDash val="solid"/>
          </a:ln>
        </p:spPr>
      </p:sp>
      <p:sp>
        <p:nvSpPr>
          <p:cNvPr id="23" name="Text 20"/>
          <p:cNvSpPr txBox="1"/>
          <p:nvPr/>
        </p:nvSpPr>
        <p:spPr>
          <a:xfrm>
            <a:off x="7772400" y="4663440"/>
            <a:ext cx="10972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CI/CD</a:t>
            </a:r>
            <a:endParaRPr lang="en-US" sz="1100" dirty="0"/>
          </a:p>
        </p:txBody>
      </p:sp>
      <p:sp>
        <p:nvSpPr>
          <p:cNvPr id="24" name="pill SQL"/>
          <p:cNvSpPr/>
          <p:nvPr/>
        </p:nvSpPr>
        <p:spPr>
          <a:xfrm>
            <a:off x="8961120" y="4663440"/>
            <a:ext cx="1097280" cy="310896"/>
          </a:xfrm>
          <a:prstGeom prst="roundRect">
            <a:avLst>
              <a:gd name="adj" fmla="val 50000"/>
            </a:avLst>
          </a:prstGeom>
          <a:solidFill>
            <a:srgbClr val="0E9AA7"/>
          </a:solidFill>
          <a:ln w="6350">
            <a:solidFill>
              <a:srgbClr val="0E9AA7"/>
            </a:solidFill>
            <a:prstDash val="solid"/>
          </a:ln>
        </p:spPr>
      </p:sp>
      <p:sp>
        <p:nvSpPr>
          <p:cNvPr id="25" name="Text 22"/>
          <p:cNvSpPr txBox="1"/>
          <p:nvPr/>
        </p:nvSpPr>
        <p:spPr>
          <a:xfrm>
            <a:off x="8961120" y="4663440"/>
            <a:ext cx="10972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SQL</a:t>
            </a:r>
            <a:endParaRPr lang="en-US" sz="1100" dirty="0"/>
          </a:p>
        </p:txBody>
      </p:sp>
      <p:sp>
        <p:nvSpPr>
          <p:cNvPr id="26" name="pill Machine Learning"/>
          <p:cNvSpPr/>
          <p:nvPr/>
        </p:nvSpPr>
        <p:spPr>
          <a:xfrm>
            <a:off x="10149840" y="4663440"/>
            <a:ext cx="1097280" cy="310896"/>
          </a:xfrm>
          <a:prstGeom prst="roundRect">
            <a:avLst>
              <a:gd name="adj" fmla="val 50000"/>
            </a:avLst>
          </a:prstGeom>
          <a:solidFill>
            <a:srgbClr val="0E9AA7"/>
          </a:solidFill>
          <a:ln w="6350">
            <a:solidFill>
              <a:srgbClr val="0E9AA7"/>
            </a:solidFill>
            <a:prstDash val="solid"/>
          </a:ln>
        </p:spPr>
      </p:sp>
      <p:sp>
        <p:nvSpPr>
          <p:cNvPr id="27" name="Text 24"/>
          <p:cNvSpPr txBox="1"/>
          <p:nvPr/>
        </p:nvSpPr>
        <p:spPr>
          <a:xfrm>
            <a:off x="10149840" y="4663440"/>
            <a:ext cx="10972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Machine Learning</a:t>
            </a:r>
            <a:endParaRPr lang="en-US" sz="1100" dirty="0"/>
          </a:p>
        </p:txBody>
      </p:sp>
      <p:sp>
        <p:nvSpPr>
          <p:cNvPr id="28" name="Text 25"/>
          <p:cNvSpPr txBox="1"/>
          <p:nvPr/>
        </p:nvSpPr>
        <p:spPr>
          <a:xfrm>
            <a:off x="6583680" y="5029200"/>
            <a:ext cx="2377440" cy="685800"/>
          </a:xfrm>
          <a:prstGeom prst="rect">
            <a:avLst/>
          </a:prstGeom>
          <a:noFill/>
          <a:ln/>
        </p:spPr>
        <p:txBody>
          <a:bodyPr wrap="square" lIns="0" tIns="0" rIns="0" bIns="0" rtlCol="0" anchor="b"/>
          <a:lstStyle/>
          <a:p>
            <a:pPr indent="0" marL="0">
              <a:buNone/>
            </a:pPr>
            <a:r>
              <a:rPr lang="en-US" sz="2800" b="1" dirty="0">
                <a:solidFill>
                  <a:srgbClr val="0E9AA7"/>
                </a:solidFill>
                <a:latin typeface="Cambria" pitchFamily="34" charset="0"/>
                <a:ea typeface="Cambria" pitchFamily="34" charset="-122"/>
                <a:cs typeface="Cambria" pitchFamily="34" charset="-120"/>
              </a:rPr>
              <a:t>67.6%</a:t>
            </a:r>
            <a:endParaRPr lang="en-US" sz="2800" dirty="0"/>
          </a:p>
        </p:txBody>
      </p:sp>
      <p:sp>
        <p:nvSpPr>
          <p:cNvPr id="29" name="Text 26"/>
          <p:cNvSpPr txBox="1"/>
          <p:nvPr/>
        </p:nvSpPr>
        <p:spPr>
          <a:xfrm>
            <a:off x="6583680" y="5742432"/>
            <a:ext cx="2377440" cy="457200"/>
          </a:xfrm>
          <a:prstGeom prst="rect">
            <a:avLst/>
          </a:prstGeom>
          <a:noFill/>
          <a:ln/>
        </p:spPr>
        <p:txBody>
          <a:bodyPr wrap="square" lIns="0" tIns="0" rIns="0" bIns="0" rtlCol="0" anchor="t"/>
          <a:lstStyle/>
          <a:p>
            <a:pPr indent="0" marL="0">
              <a:buNone/>
            </a:pPr>
            <a:r>
              <a:rPr lang="en-US" sz="1400" dirty="0">
                <a:solidFill>
                  <a:srgbClr val="5E7080"/>
                </a:solidFill>
                <a:latin typeface="Calibri" pitchFamily="34" charset="0"/>
                <a:ea typeface="Calibri" pitchFamily="34" charset="-122"/>
                <a:cs typeface="Calibri" pitchFamily="34" charset="-120"/>
              </a:rPr>
              <a:t>postings have ≥1 skill</a:t>
            </a:r>
            <a:endParaRPr lang="en-US" sz="1400" dirty="0"/>
          </a:p>
        </p:txBody>
      </p:sp>
      <p:sp>
        <p:nvSpPr>
          <p:cNvPr id="30" name="Text 27"/>
          <p:cNvSpPr txBox="1"/>
          <p:nvPr/>
        </p:nvSpPr>
        <p:spPr>
          <a:xfrm>
            <a:off x="9144000" y="5029200"/>
            <a:ext cx="2377440" cy="685800"/>
          </a:xfrm>
          <a:prstGeom prst="rect">
            <a:avLst/>
          </a:prstGeom>
          <a:noFill/>
          <a:ln/>
        </p:spPr>
        <p:txBody>
          <a:bodyPr wrap="square" lIns="0" tIns="0" rIns="0" bIns="0" rtlCol="0" anchor="b"/>
          <a:lstStyle/>
          <a:p>
            <a:pPr indent="0" marL="0">
              <a:buNone/>
            </a:pPr>
            <a:r>
              <a:rPr lang="en-US" sz="2800" b="1" dirty="0">
                <a:solidFill>
                  <a:srgbClr val="0E9AA7"/>
                </a:solidFill>
                <a:latin typeface="Cambria" pitchFamily="34" charset="0"/>
                <a:ea typeface="Cambria" pitchFamily="34" charset="-122"/>
                <a:cs typeface="Cambria" pitchFamily="34" charset="-120"/>
              </a:rPr>
              <a:t>2.72</a:t>
            </a:r>
            <a:endParaRPr lang="en-US" sz="2800" dirty="0"/>
          </a:p>
        </p:txBody>
      </p:sp>
      <p:sp>
        <p:nvSpPr>
          <p:cNvPr id="31" name="Text 28"/>
          <p:cNvSpPr txBox="1"/>
          <p:nvPr/>
        </p:nvSpPr>
        <p:spPr>
          <a:xfrm>
            <a:off x="9144000" y="5742432"/>
            <a:ext cx="2377440" cy="457200"/>
          </a:xfrm>
          <a:prstGeom prst="rect">
            <a:avLst/>
          </a:prstGeom>
          <a:noFill/>
          <a:ln/>
        </p:spPr>
        <p:txBody>
          <a:bodyPr wrap="square" lIns="0" tIns="0" rIns="0" bIns="0" rtlCol="0" anchor="t"/>
          <a:lstStyle/>
          <a:p>
            <a:pPr indent="0" marL="0">
              <a:buNone/>
            </a:pPr>
            <a:r>
              <a:rPr lang="en-US" sz="1400" dirty="0">
                <a:solidFill>
                  <a:srgbClr val="5E7080"/>
                </a:solidFill>
                <a:latin typeface="Calibri" pitchFamily="34" charset="0"/>
                <a:ea typeface="Calibri" pitchFamily="34" charset="-122"/>
                <a:cs typeface="Calibri" pitchFamily="34" charset="-120"/>
              </a:rPr>
              <a:t>skills per posting</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0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Entities and roles: rules you can inspect</a:t>
            </a:r>
            <a:endParaRPr lang="en-US" sz="3400" dirty="0"/>
          </a:p>
        </p:txBody>
      </p:sp>
      <p:sp>
        <p:nvSpPr>
          <p:cNvPr id="3" name="Text 1"/>
          <p:cNvSpPr/>
          <p:nvPr>
            <p:ph idx="102" type="body" hasCustomPrompt="1"/>
          </p:nvPr>
        </p:nvSpPr>
        <p:spPr>
          <a:xfrm>
            <a:off x="548640" y="1133856"/>
            <a:ext cx="11094415" cy="502920"/>
          </a:xfrm>
          <a:prstGeom prst="rect">
            <a:avLst/>
          </a:prstGeom>
          <a:noFill/>
          <a:ln/>
        </p:spPr>
        <p:txBody>
          <a:bodyPr wrap="square" lIns="0" tIns="0" rIns="0" bIns="0" rtlCol="0" anchor="t"/>
          <a:lstStyle/>
          <a:p>
            <a:pPr algn="l" indent="0" marL="0">
              <a:buNone/>
            </a:pPr>
            <a:r>
              <a:rPr lang="en-US" sz="1800" dirty="0">
                <a:solidFill>
                  <a:schemeClr val="accent6"/>
                </a:solidFill>
              </a:rPr>
              <a:t>Regex patterns find experience and degrees; weighted keywords assign role categories.</a:t>
            </a:r>
            <a:endParaRPr lang="en-US" sz="1800" dirty="0"/>
          </a:p>
        </p:txBody>
      </p:sp>
      <p:sp>
        <p:nvSpPr>
          <p:cNvPr id="5" name="entity card"/>
          <p:cNvSpPr/>
          <p:nvPr/>
        </p:nvSpPr>
        <p:spPr>
          <a:xfrm>
            <a:off x="548640" y="1828800"/>
            <a:ext cx="5440680" cy="4343400"/>
          </a:xfrm>
          <a:prstGeom prst="roundRect">
            <a:avLst>
              <a:gd name="adj" fmla="val 2105"/>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6" name="Text 3"/>
          <p:cNvSpPr txBox="1"/>
          <p:nvPr/>
        </p:nvSpPr>
        <p:spPr>
          <a:xfrm>
            <a:off x="777240" y="1938528"/>
            <a:ext cx="493776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Experience and qualifications</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2423160"/>
          <a:ext cx="4983480" cy="914400"/>
        </p:xfrm>
        <a:graphic>
          <a:graphicData uri="http://schemas.openxmlformats.org/drawingml/2006/table">
            <a:tbl>
              <a:tblPr/>
              <a:tblGrid>
                <a:gridCol w="2971800"/>
                <a:gridCol w="1005840"/>
                <a:gridCol w="1005840"/>
              </a:tblGrid>
              <a:tr h="384048">
                <a:tc>
                  <a:txBody>
                    <a:bodyPr/>
                    <a:lstStyle/>
                    <a:p>
                      <a:pPr indent="0" marL="0">
                        <a:buNone/>
                      </a:pPr>
                      <a:r>
                        <a:rPr lang="en-US" sz="1300" b="1" dirty="0">
                          <a:solidFill>
                            <a:srgbClr val="FFFFFF"/>
                          </a:solidFill>
                        </a:rPr>
                        <a:t>Text</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0B2B3B"/>
                    </a:solidFill>
                  </a:tcPr>
                </a:tc>
                <a:tc>
                  <a:txBody>
                    <a:bodyPr/>
                    <a:lstStyle/>
                    <a:p>
                      <a:pPr indent="0" marL="0">
                        <a:buNone/>
                      </a:pPr>
                      <a:r>
                        <a:rPr lang="en-US" sz="1300" b="1" dirty="0">
                          <a:solidFill>
                            <a:srgbClr val="FFFFFF"/>
                          </a:solidFill>
                        </a:rPr>
                        <a:t>Minimum</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0B2B3B"/>
                    </a:solidFill>
                  </a:tcPr>
                </a:tc>
                <a:tc>
                  <a:txBody>
                    <a:bodyPr/>
                    <a:lstStyle/>
                    <a:p>
                      <a:pPr indent="0" marL="0">
                        <a:buNone/>
                      </a:pPr>
                      <a:r>
                        <a:rPr lang="en-US" sz="1300" b="1" dirty="0">
                          <a:solidFill>
                            <a:srgbClr val="FFFFFF"/>
                          </a:solidFill>
                        </a:rPr>
                        <a:t>Maximum</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0B2B3B"/>
                    </a:solidFill>
                  </a:tcPr>
                </a:tc>
              </a:tr>
              <a:tr h="384048">
                <a:tc>
                  <a:txBody>
                    <a:bodyPr/>
                    <a:lstStyle/>
                    <a:p>
                      <a:pPr indent="0" marL="0">
                        <a:buNone/>
                      </a:pPr>
                      <a:r>
                        <a:rPr lang="en-US" sz="1300" dirty="0">
                          <a:solidFill>
                            <a:srgbClr val="1B2733"/>
                          </a:solidFill>
                        </a:rPr>
                        <a:t>Minimum 3-5 years of experience in analytics</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300" dirty="0">
                          <a:solidFill>
                            <a:srgbClr val="1B2733"/>
                          </a:solidFill>
                        </a:rPr>
                        <a:t>3 yrs</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300" dirty="0">
                          <a:solidFill>
                            <a:srgbClr val="1B2733"/>
                          </a:solidFill>
                        </a:rPr>
                        <a:t>5 yrs</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r h="384048">
                <a:tc>
                  <a:txBody>
                    <a:bodyPr/>
                    <a:lstStyle/>
                    <a:p>
                      <a:pPr indent="0" marL="0">
                        <a:buNone/>
                      </a:pPr>
                      <a:r>
                        <a:rPr lang="en-US" sz="1300" dirty="0">
                          <a:solidFill>
                            <a:srgbClr val="1B2733"/>
                          </a:solidFill>
                        </a:rPr>
                        <a:t>5+ years of relevant experience</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300" dirty="0">
                          <a:solidFill>
                            <a:srgbClr val="1B2733"/>
                          </a:solidFill>
                        </a:rPr>
                        <a:t>5 yrs</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300" dirty="0">
                          <a:solidFill>
                            <a:srgbClr val="1B2733"/>
                          </a:solidFill>
                        </a:rPr>
                        <a:t>none</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r h="384048">
                <a:tc>
                  <a:txBody>
                    <a:bodyPr/>
                    <a:lstStyle/>
                    <a:p>
                      <a:pPr indent="0" marL="0">
                        <a:buNone/>
                      </a:pPr>
                      <a:r>
                        <a:rPr lang="en-US" sz="1300" dirty="0">
                          <a:solidFill>
                            <a:srgbClr val="1B2733"/>
                          </a:solidFill>
                        </a:rPr>
                        <a:t>B.Tech/MBA preferred, 2+ years</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300" dirty="0">
                          <a:solidFill>
                            <a:srgbClr val="1B2733"/>
                          </a:solidFill>
                        </a:rPr>
                        <a:t>2 yrs</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300" dirty="0">
                          <a:solidFill>
                            <a:srgbClr val="1B2733"/>
                          </a:solidFill>
                        </a:rPr>
                        <a:t>none</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bl>
          </a:graphicData>
        </a:graphic>
      </p:graphicFrame>
      <p:sp>
        <p:nvSpPr>
          <p:cNvPr id="8" name="Text 4"/>
          <p:cNvSpPr txBox="1"/>
          <p:nvPr/>
        </p:nvSpPr>
        <p:spPr>
          <a:xfrm>
            <a:off x="777240" y="4160520"/>
            <a:ext cx="2377440" cy="685800"/>
          </a:xfrm>
          <a:prstGeom prst="rect">
            <a:avLst/>
          </a:prstGeom>
          <a:noFill/>
          <a:ln/>
        </p:spPr>
        <p:txBody>
          <a:bodyPr wrap="square" lIns="0" tIns="0" rIns="0" bIns="0" rtlCol="0" anchor="b"/>
          <a:lstStyle/>
          <a:p>
            <a:pPr indent="0" marL="0">
              <a:buNone/>
            </a:pPr>
            <a:r>
              <a:rPr lang="en-US" sz="3400" b="1" dirty="0">
                <a:solidFill>
                  <a:srgbClr val="0E9AA7"/>
                </a:solidFill>
                <a:latin typeface="Cambria" pitchFamily="34" charset="0"/>
                <a:ea typeface="Cambria" pitchFamily="34" charset="-122"/>
                <a:cs typeface="Cambria" pitchFamily="34" charset="-120"/>
              </a:rPr>
              <a:t>23.5%</a:t>
            </a:r>
            <a:endParaRPr lang="en-US" sz="3400" dirty="0"/>
          </a:p>
        </p:txBody>
      </p:sp>
      <p:sp>
        <p:nvSpPr>
          <p:cNvPr id="9" name="Text 5"/>
          <p:cNvSpPr txBox="1"/>
          <p:nvPr/>
        </p:nvSpPr>
        <p:spPr>
          <a:xfrm>
            <a:off x="777240" y="4873752"/>
            <a:ext cx="2377440" cy="457200"/>
          </a:xfrm>
          <a:prstGeom prst="rect">
            <a:avLst/>
          </a:prstGeom>
          <a:noFill/>
          <a:ln/>
        </p:spPr>
        <p:txBody>
          <a:bodyPr wrap="square" lIns="0" tIns="0" rIns="0" bIns="0" rtlCol="0" anchor="t"/>
          <a:lstStyle/>
          <a:p>
            <a:pPr indent="0" marL="0">
              <a:buNone/>
            </a:pPr>
            <a:r>
              <a:rPr lang="en-US" sz="1400" dirty="0">
                <a:solidFill>
                  <a:srgbClr val="5E7080"/>
                </a:solidFill>
                <a:latin typeface="Calibri" pitchFamily="34" charset="0"/>
                <a:ea typeface="Calibri" pitchFamily="34" charset="-122"/>
                <a:cs typeface="Calibri" pitchFamily="34" charset="-120"/>
              </a:rPr>
              <a:t>of postings state experience (median minimum 5 years)</a:t>
            </a:r>
            <a:endParaRPr lang="en-US" sz="1400" dirty="0"/>
          </a:p>
        </p:txBody>
      </p:sp>
      <p:sp>
        <p:nvSpPr>
          <p:cNvPr id="10" name="Text 6"/>
          <p:cNvSpPr txBox="1"/>
          <p:nvPr/>
        </p:nvSpPr>
        <p:spPr>
          <a:xfrm>
            <a:off x="3474720" y="4160520"/>
            <a:ext cx="2377440" cy="685800"/>
          </a:xfrm>
          <a:prstGeom prst="rect">
            <a:avLst/>
          </a:prstGeom>
          <a:noFill/>
          <a:ln/>
        </p:spPr>
        <p:txBody>
          <a:bodyPr wrap="square" lIns="0" tIns="0" rIns="0" bIns="0" rtlCol="0" anchor="b"/>
          <a:lstStyle/>
          <a:p>
            <a:pPr indent="0" marL="0">
              <a:buNone/>
            </a:pPr>
            <a:r>
              <a:rPr lang="en-US" sz="3400" b="1" dirty="0">
                <a:solidFill>
                  <a:srgbClr val="0E9AA7"/>
                </a:solidFill>
                <a:latin typeface="Cambria" pitchFamily="34" charset="0"/>
                <a:ea typeface="Cambria" pitchFamily="34" charset="-122"/>
                <a:cs typeface="Cambria" pitchFamily="34" charset="-120"/>
              </a:rPr>
              <a:t>351</a:t>
            </a:r>
            <a:endParaRPr lang="en-US" sz="3400" dirty="0"/>
          </a:p>
        </p:txBody>
      </p:sp>
      <p:sp>
        <p:nvSpPr>
          <p:cNvPr id="11" name="Text 7"/>
          <p:cNvSpPr txBox="1"/>
          <p:nvPr/>
        </p:nvSpPr>
        <p:spPr>
          <a:xfrm>
            <a:off x="3474720" y="4873752"/>
            <a:ext cx="2377440" cy="457200"/>
          </a:xfrm>
          <a:prstGeom prst="rect">
            <a:avLst/>
          </a:prstGeom>
          <a:noFill/>
          <a:ln/>
        </p:spPr>
        <p:txBody>
          <a:bodyPr wrap="square" lIns="0" tIns="0" rIns="0" bIns="0" rtlCol="0" anchor="t"/>
          <a:lstStyle/>
          <a:p>
            <a:pPr indent="0" marL="0">
              <a:buNone/>
            </a:pPr>
            <a:r>
              <a:rPr lang="en-US" sz="1400" dirty="0">
                <a:solidFill>
                  <a:srgbClr val="5E7080"/>
                </a:solidFill>
                <a:latin typeface="Calibri" pitchFamily="34" charset="0"/>
                <a:ea typeface="Calibri" pitchFamily="34" charset="-122"/>
                <a:cs typeface="Calibri" pitchFamily="34" charset="-120"/>
              </a:rPr>
              <a:t>postings name a degree (MBA, B.Tech, Master's …)</a:t>
            </a:r>
            <a:endParaRPr lang="en-US" sz="1400" dirty="0"/>
          </a:p>
        </p:txBody>
      </p:sp>
      <p:sp>
        <p:nvSpPr>
          <p:cNvPr id="12" name="role card"/>
          <p:cNvSpPr/>
          <p:nvPr/>
        </p:nvSpPr>
        <p:spPr>
          <a:xfrm>
            <a:off x="6263640" y="1828800"/>
            <a:ext cx="5376672" cy="4343400"/>
          </a:xfrm>
          <a:prstGeom prst="roundRect">
            <a:avLst>
              <a:gd name="adj" fmla="val 2105"/>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13" name="Text 9"/>
          <p:cNvSpPr txBox="1"/>
          <p:nvPr/>
        </p:nvSpPr>
        <p:spPr>
          <a:xfrm>
            <a:off x="6492240" y="1938528"/>
            <a:ext cx="493776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Role classification</a:t>
            </a:r>
            <a:endParaRPr lang="en-US" sz="18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492240" y="2423160"/>
          <a:ext cx="4937760" cy="914400"/>
        </p:xfrm>
        <a:graphic>
          <a:graphicData uri="http://schemas.openxmlformats.org/drawingml/2006/table">
            <a:tbl>
              <a:tblPr/>
              <a:tblGrid>
                <a:gridCol w="2286000"/>
                <a:gridCol w="2651760"/>
              </a:tblGrid>
              <a:tr h="365760">
                <a:tc>
                  <a:txBody>
                    <a:bodyPr/>
                    <a:lstStyle/>
                    <a:p>
                      <a:pPr indent="0" marL="0">
                        <a:buNone/>
                      </a:pPr>
                      <a:r>
                        <a:rPr lang="en-US" sz="1300" b="1" dirty="0">
                          <a:solidFill>
                            <a:srgbClr val="FFFFFF"/>
                          </a:solidFill>
                        </a:rPr>
                        <a:t>Title</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0B2B3B"/>
                    </a:solidFill>
                  </a:tcPr>
                </a:tc>
                <a:tc>
                  <a:txBody>
                    <a:bodyPr/>
                    <a:lstStyle/>
                    <a:p>
                      <a:pPr indent="0" marL="0">
                        <a:buNone/>
                      </a:pPr>
                      <a:r>
                        <a:rPr lang="en-US" sz="1300" b="1" dirty="0">
                          <a:solidFill>
                            <a:srgbClr val="FFFFFF"/>
                          </a:solidFill>
                        </a:rPr>
                        <a:t>Category</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0B2B3B"/>
                    </a:solidFill>
                  </a:tcPr>
                </a:tc>
              </a:tr>
              <a:tr h="365760">
                <a:tc>
                  <a:txBody>
                    <a:bodyPr/>
                    <a:lstStyle/>
                    <a:p>
                      <a:pPr indent="0" marL="0">
                        <a:buNone/>
                      </a:pPr>
                      <a:r>
                        <a:rPr lang="en-US" sz="1300" dirty="0">
                          <a:solidFill>
                            <a:srgbClr val="1B2733"/>
                          </a:solidFill>
                        </a:rPr>
                        <a:t>Senior Data Scientist</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300" dirty="0">
                          <a:solidFill>
                            <a:srgbClr val="1B2733"/>
                          </a:solidFill>
                        </a:rPr>
                        <a:t>AI &amp; Machine Learning</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r h="365760">
                <a:tc>
                  <a:txBody>
                    <a:bodyPr/>
                    <a:lstStyle/>
                    <a:p>
                      <a:pPr indent="0" marL="0">
                        <a:buNone/>
                      </a:pPr>
                      <a:r>
                        <a:rPr lang="en-US" sz="1300" dirty="0">
                          <a:solidFill>
                            <a:srgbClr val="1B2733"/>
                          </a:solidFill>
                        </a:rPr>
                        <a:t>Data Quality Analyst</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300" dirty="0">
                          <a:solidFill>
                            <a:srgbClr val="1B2733"/>
                          </a:solidFill>
                        </a:rPr>
                        <a:t>Data &amp; Analytics</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r h="365760">
                <a:tc>
                  <a:txBody>
                    <a:bodyPr/>
                    <a:lstStyle/>
                    <a:p>
                      <a:pPr indent="0" marL="0">
                        <a:buNone/>
                      </a:pPr>
                      <a:r>
                        <a:rPr lang="en-US" sz="1300" dirty="0">
                          <a:solidFill>
                            <a:srgbClr val="1B2733"/>
                          </a:solidFill>
                        </a:rPr>
                        <a:t>Account Executive</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300" dirty="0">
                          <a:solidFill>
                            <a:srgbClr val="1B2733"/>
                          </a:solidFill>
                        </a:rPr>
                        <a:t>Sales &amp; Marketing</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r h="365760">
                <a:tc>
                  <a:txBody>
                    <a:bodyPr/>
                    <a:lstStyle/>
                    <a:p>
                      <a:pPr indent="0" marL="0">
                        <a:buNone/>
                      </a:pPr>
                      <a:r>
                        <a:rPr lang="en-US" sz="1300" dirty="0">
                          <a:solidFill>
                            <a:srgbClr val="1B2733"/>
                          </a:solidFill>
                        </a:rPr>
                        <a:t>HRBP_Bangalore</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300" dirty="0">
                          <a:solidFill>
                            <a:srgbClr val="1B2733"/>
                          </a:solidFill>
                        </a:rPr>
                        <a:t>Operations &amp; HR</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r h="365760">
                <a:tc>
                  <a:txBody>
                    <a:bodyPr/>
                    <a:lstStyle/>
                    <a:p>
                      <a:pPr indent="0" marL="0">
                        <a:buNone/>
                      </a:pPr>
                      <a:r>
                        <a:rPr lang="en-US" sz="1300" dirty="0">
                          <a:solidFill>
                            <a:srgbClr val="1B2733"/>
                          </a:solidFill>
                        </a:rPr>
                        <a:t>Senior Technical Program Manager</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300" b="1" dirty="0">
                          <a:solidFill>
                            <a:srgbClr val="D9534F"/>
                          </a:solidFill>
                        </a:rPr>
                        <a:t>Software Engineering  (default, flagged)</a:t>
                      </a:r>
                      <a:endParaRPr lang="en-US" sz="1300" dirty="0"/>
                    </a:p>
                  </a:txBody>
                  <a:tcPr marL="54864" marR="54864" marT="54864" marB="54864">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bl>
          </a:graphicData>
        </a:graphic>
      </p:graphicFrame>
      <p:sp>
        <p:nvSpPr>
          <p:cNvPr id="15" name="Text 10"/>
          <p:cNvSpPr txBox="1"/>
          <p:nvPr/>
        </p:nvSpPr>
        <p:spPr>
          <a:xfrm>
            <a:off x="6492240" y="4846320"/>
            <a:ext cx="4937760" cy="685800"/>
          </a:xfrm>
          <a:prstGeom prst="rect">
            <a:avLst/>
          </a:prstGeom>
          <a:noFill/>
          <a:ln/>
        </p:spPr>
        <p:txBody>
          <a:bodyPr wrap="square" lIns="0" tIns="0" rIns="0" bIns="0" rtlCol="0" anchor="b"/>
          <a:lstStyle/>
          <a:p>
            <a:pPr indent="0" marL="0">
              <a:buNone/>
            </a:pPr>
            <a:r>
              <a:rPr lang="en-US" sz="2800" b="1" dirty="0">
                <a:solidFill>
                  <a:srgbClr val="F2A541"/>
                </a:solidFill>
                <a:latin typeface="Cambria" pitchFamily="34" charset="0"/>
                <a:ea typeface="Cambria" pitchFamily="34" charset="-122"/>
                <a:cs typeface="Cambria" pitchFamily="34" charset="-120"/>
              </a:rPr>
              <a:t>138 titles (4.5%)</a:t>
            </a:r>
            <a:endParaRPr lang="en-US" sz="2800" dirty="0"/>
          </a:p>
        </p:txBody>
      </p:sp>
      <p:sp>
        <p:nvSpPr>
          <p:cNvPr id="16" name="Text 11"/>
          <p:cNvSpPr txBox="1"/>
          <p:nvPr/>
        </p:nvSpPr>
        <p:spPr>
          <a:xfrm>
            <a:off x="6492240" y="5559552"/>
            <a:ext cx="4937760" cy="457200"/>
          </a:xfrm>
          <a:prstGeom prst="rect">
            <a:avLst/>
          </a:prstGeom>
          <a:noFill/>
          <a:ln/>
        </p:spPr>
        <p:txBody>
          <a:bodyPr wrap="square" lIns="0" tIns="0" rIns="0" bIns="0" rtlCol="0" anchor="t"/>
          <a:lstStyle/>
          <a:p>
            <a:pPr indent="0" marL="0">
              <a:buNone/>
            </a:pPr>
            <a:r>
              <a:rPr lang="en-US" sz="1400" dirty="0">
                <a:solidFill>
                  <a:srgbClr val="5E7080"/>
                </a:solidFill>
                <a:latin typeface="Calibri" pitchFamily="34" charset="0"/>
                <a:ea typeface="Calibri" pitchFamily="34" charset="-122"/>
                <a:cs typeface="Calibri" pitchFamily="34" charset="-120"/>
              </a:rPr>
              <a:t>match no rule: they get the default category, flagged and never used as evidence</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0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What employers ask for most</a:t>
            </a:r>
            <a:endParaRPr lang="en-US" sz="3400" dirty="0"/>
          </a:p>
        </p:txBody>
      </p:sp>
      <p:sp>
        <p:nvSpPr>
          <p:cNvPr id="3" name="Text 1"/>
          <p:cNvSpPr/>
          <p:nvPr>
            <p:ph idx="102" type="body" hasCustomPrompt="1"/>
          </p:nvPr>
        </p:nvSpPr>
        <p:spPr>
          <a:xfrm>
            <a:off x="548640" y="1133856"/>
            <a:ext cx="11094415" cy="502920"/>
          </a:xfrm>
          <a:prstGeom prst="rect">
            <a:avLst/>
          </a:prstGeom>
          <a:noFill/>
          <a:ln/>
        </p:spPr>
        <p:txBody>
          <a:bodyPr wrap="square" lIns="0" tIns="0" rIns="0" bIns="0" rtlCol="0" anchor="t"/>
          <a:lstStyle/>
          <a:p>
            <a:pPr algn="l" indent="0" marL="0">
              <a:buNone/>
            </a:pPr>
            <a:r>
              <a:rPr lang="en-US" sz="1800" dirty="0">
                <a:solidFill>
                  <a:schemeClr val="accent6"/>
                </a:solidFill>
              </a:rPr>
              <a:t>Share of 3,079 postings that mention each skill.</a:t>
            </a:r>
            <a:endParaRPr lang="en-US" sz="1800" dirty="0"/>
          </a:p>
        </p:txBody>
      </p:sp>
      <p:graphicFrame>
        <p:nvGraphicFramePr>
          <p:cNvPr id="5" name="Chart 0" descr=""/>
          <p:cNvGraphicFramePr/>
          <p:nvPr/>
        </p:nvGraphicFramePr>
        <p:xfrm>
          <a:off x="548640" y="1783080"/>
          <a:ext cx="7040880" cy="4434840"/>
        </p:xfrm>
        <a:graphic xmlns:a="http://schemas.openxmlformats.org/drawingml/2006/main">
          <a:graphicData uri="http://schemas.openxmlformats.org/drawingml/2006/chart">
            <c:chart xmlns:c="http://schemas.openxmlformats.org/drawingml/2006/chart" r:id="rId1"/>
          </a:graphicData>
        </a:graphic>
      </p:graphicFrame>
      <p:sp>
        <p:nvSpPr>
          <p:cNvPr id="6" name="insights card"/>
          <p:cNvSpPr/>
          <p:nvPr/>
        </p:nvSpPr>
        <p:spPr>
          <a:xfrm>
            <a:off x="7909560" y="1828800"/>
            <a:ext cx="3730752" cy="4297680"/>
          </a:xfrm>
          <a:prstGeom prst="roundRect">
            <a:avLst>
              <a:gd name="adj" fmla="val 2451"/>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7" name="Text 3"/>
          <p:cNvSpPr txBox="1"/>
          <p:nvPr/>
        </p:nvSpPr>
        <p:spPr>
          <a:xfrm>
            <a:off x="8138160" y="1965960"/>
            <a:ext cx="329184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Reading the chart</a:t>
            </a:r>
            <a:endParaRPr lang="en-US" sz="1800" dirty="0"/>
          </a:p>
        </p:txBody>
      </p:sp>
      <p:sp>
        <p:nvSpPr>
          <p:cNvPr id="8" name="Text 4"/>
          <p:cNvSpPr txBox="1"/>
          <p:nvPr/>
        </p:nvSpPr>
        <p:spPr>
          <a:xfrm>
            <a:off x="8138160" y="2468880"/>
            <a:ext cx="3291840" cy="35661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Machine Learning (14.8%), Python and SQL form the technical core</a:t>
            </a:r>
            <a:endParaRPr lang="en-US" sz="1400" dirty="0"/>
          </a:p>
          <a:p>
            <a:pPr marL="203200" indent="-2032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AWS, Azure and GCP each appear in 7 to 11% of postings</a:t>
            </a:r>
            <a:endParaRPr lang="en-US" sz="1400" dirty="0"/>
          </a:p>
          <a:p>
            <a:pPr marL="203200" indent="-2032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Soft skills (light green) lead because full-text postings spell them out: “communication” is in 4.6% of Adzuna snippets but 55 to 70% of company-board postings</a:t>
            </a:r>
            <a:endParaRPr lang="en-US" sz="1400" dirty="0"/>
          </a:p>
          <a:p>
            <a:pPr marL="203200" indent="-2032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“Data Science” (amber) is a field label, not a tool skill</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0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Each role has its own skill signature</a:t>
            </a:r>
            <a:endParaRPr lang="en-US" sz="3400" dirty="0"/>
          </a:p>
        </p:txBody>
      </p:sp>
      <p:sp>
        <p:nvSpPr>
          <p:cNvPr id="3" name="Text 1"/>
          <p:cNvSpPr/>
          <p:nvPr>
            <p:ph idx="102" type="body" hasCustomPrompt="1"/>
          </p:nvPr>
        </p:nvSpPr>
        <p:spPr>
          <a:xfrm>
            <a:off x="548640" y="1133856"/>
            <a:ext cx="11094415" cy="502920"/>
          </a:xfrm>
          <a:prstGeom prst="rect">
            <a:avLst/>
          </a:prstGeom>
          <a:noFill/>
          <a:ln/>
        </p:spPr>
        <p:txBody>
          <a:bodyPr wrap="square" lIns="0" tIns="0" rIns="0" bIns="0" rtlCol="0" anchor="t"/>
          <a:lstStyle/>
          <a:p>
            <a:pPr algn="l" indent="0" marL="0">
              <a:buNone/>
            </a:pPr>
            <a:r>
              <a:rPr lang="en-US" sz="1800" dirty="0">
                <a:solidFill>
                  <a:schemeClr val="accent6"/>
                </a:solidFill>
              </a:rPr>
              <a:t>Top 5 skills inside each role category. Sample mix: software 31%, data 21%, AI/ML 13%; Bengaluru 32%.</a:t>
            </a:r>
            <a:endParaRPr lang="en-US" sz="1800" dirty="0"/>
          </a:p>
        </p:txBody>
      </p:sp>
      <p:sp>
        <p:nvSpPr>
          <p:cNvPr id="5" name="role skills card Data &amp; Analytics"/>
          <p:cNvSpPr/>
          <p:nvPr/>
        </p:nvSpPr>
        <p:spPr>
          <a:xfrm>
            <a:off x="548640" y="1828800"/>
            <a:ext cx="3593592" cy="4297680"/>
          </a:xfrm>
          <a:prstGeom prst="roundRect">
            <a:avLst>
              <a:gd name="adj" fmla="val 2545"/>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6" name="Text 3"/>
          <p:cNvSpPr txBox="1"/>
          <p:nvPr/>
        </p:nvSpPr>
        <p:spPr>
          <a:xfrm>
            <a:off x="777240" y="1920240"/>
            <a:ext cx="315468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Data &amp; Analytics</a:t>
            </a:r>
            <a:endParaRPr lang="en-US" sz="1800" dirty="0"/>
          </a:p>
        </p:txBody>
      </p:sp>
      <p:sp>
        <p:nvSpPr>
          <p:cNvPr id="7" name="Text 4"/>
          <p:cNvSpPr txBox="1"/>
          <p:nvPr/>
        </p:nvSpPr>
        <p:spPr>
          <a:xfrm>
            <a:off x="777240" y="2286000"/>
            <a:ext cx="3108960" cy="274320"/>
          </a:xfrm>
          <a:prstGeom prst="rect">
            <a:avLst/>
          </a:prstGeom>
          <a:noFill/>
          <a:ln/>
        </p:spPr>
        <p:txBody>
          <a:bodyPr wrap="square" lIns="0" tIns="0" rIns="0" bIns="0" rtlCol="0" anchor="t"/>
          <a:lstStyle/>
          <a:p>
            <a:pPr indent="0" marL="0">
              <a:buNone/>
            </a:pPr>
            <a:r>
              <a:rPr lang="en-US" sz="1300" dirty="0">
                <a:solidFill>
                  <a:srgbClr val="5E7080"/>
                </a:solidFill>
                <a:latin typeface="Calibri" pitchFamily="34" charset="0"/>
                <a:ea typeface="Calibri" pitchFamily="34" charset="-122"/>
                <a:cs typeface="Calibri" pitchFamily="34" charset="-120"/>
              </a:rPr>
              <a:t>651 postings</a:t>
            </a:r>
            <a:endParaRPr lang="en-US" sz="1300" dirty="0"/>
          </a:p>
        </p:txBody>
      </p:sp>
      <p:graphicFrame>
        <p:nvGraphicFramePr>
          <p:cNvPr id="8" name="Chart 0" descr=""/>
          <p:cNvGraphicFramePr/>
          <p:nvPr/>
        </p:nvGraphicFramePr>
        <p:xfrm>
          <a:off x="640080" y="2606040"/>
          <a:ext cx="3410712" cy="3429000"/>
        </p:xfrm>
        <a:graphic xmlns:a="http://schemas.openxmlformats.org/drawingml/2006/main">
          <a:graphicData uri="http://schemas.openxmlformats.org/drawingml/2006/chart">
            <c:chart xmlns:c="http://schemas.openxmlformats.org/drawingml/2006/chart" r:id="rId1"/>
          </a:graphicData>
        </a:graphic>
      </p:graphicFrame>
      <p:sp>
        <p:nvSpPr>
          <p:cNvPr id="9" name="role skills card AI &amp; Machine Learning"/>
          <p:cNvSpPr/>
          <p:nvPr/>
        </p:nvSpPr>
        <p:spPr>
          <a:xfrm>
            <a:off x="4297680" y="1828800"/>
            <a:ext cx="3593592" cy="4297680"/>
          </a:xfrm>
          <a:prstGeom prst="roundRect">
            <a:avLst>
              <a:gd name="adj" fmla="val 2545"/>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10" name="Text 6"/>
          <p:cNvSpPr txBox="1"/>
          <p:nvPr/>
        </p:nvSpPr>
        <p:spPr>
          <a:xfrm>
            <a:off x="4526280" y="1920240"/>
            <a:ext cx="315468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AI &amp; Machine Learning</a:t>
            </a:r>
            <a:endParaRPr lang="en-US" sz="1800" dirty="0"/>
          </a:p>
        </p:txBody>
      </p:sp>
      <p:sp>
        <p:nvSpPr>
          <p:cNvPr id="11" name="Text 7"/>
          <p:cNvSpPr txBox="1"/>
          <p:nvPr/>
        </p:nvSpPr>
        <p:spPr>
          <a:xfrm>
            <a:off x="4526280" y="2286000"/>
            <a:ext cx="3108960" cy="274320"/>
          </a:xfrm>
          <a:prstGeom prst="rect">
            <a:avLst/>
          </a:prstGeom>
          <a:noFill/>
          <a:ln/>
        </p:spPr>
        <p:txBody>
          <a:bodyPr wrap="square" lIns="0" tIns="0" rIns="0" bIns="0" rtlCol="0" anchor="t"/>
          <a:lstStyle/>
          <a:p>
            <a:pPr indent="0" marL="0">
              <a:buNone/>
            </a:pPr>
            <a:r>
              <a:rPr lang="en-US" sz="1300" dirty="0">
                <a:solidFill>
                  <a:srgbClr val="5E7080"/>
                </a:solidFill>
                <a:latin typeface="Calibri" pitchFamily="34" charset="0"/>
                <a:ea typeface="Calibri" pitchFamily="34" charset="-122"/>
                <a:cs typeface="Calibri" pitchFamily="34" charset="-120"/>
              </a:rPr>
              <a:t>397 postings</a:t>
            </a:r>
            <a:endParaRPr lang="en-US" sz="1300" dirty="0"/>
          </a:p>
        </p:txBody>
      </p:sp>
      <p:graphicFrame>
        <p:nvGraphicFramePr>
          <p:cNvPr id="12" name="Chart 1" descr=""/>
          <p:cNvGraphicFramePr/>
          <p:nvPr/>
        </p:nvGraphicFramePr>
        <p:xfrm>
          <a:off x="4389120" y="2606040"/>
          <a:ext cx="3410712" cy="3429000"/>
        </p:xfrm>
        <a:graphic xmlns:a="http://schemas.openxmlformats.org/drawingml/2006/main">
          <a:graphicData uri="http://schemas.openxmlformats.org/drawingml/2006/chart">
            <c:chart xmlns:c="http://schemas.openxmlformats.org/drawingml/2006/chart" r:id="rId2"/>
          </a:graphicData>
        </a:graphic>
      </p:graphicFrame>
      <p:sp>
        <p:nvSpPr>
          <p:cNvPr id="13" name="role skills card Software Engineering"/>
          <p:cNvSpPr/>
          <p:nvPr/>
        </p:nvSpPr>
        <p:spPr>
          <a:xfrm>
            <a:off x="8046720" y="1828800"/>
            <a:ext cx="3593592" cy="4297680"/>
          </a:xfrm>
          <a:prstGeom prst="roundRect">
            <a:avLst>
              <a:gd name="adj" fmla="val 2545"/>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14" name="Text 9"/>
          <p:cNvSpPr txBox="1"/>
          <p:nvPr/>
        </p:nvSpPr>
        <p:spPr>
          <a:xfrm>
            <a:off x="8275320" y="1920240"/>
            <a:ext cx="315468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Software Engineering</a:t>
            </a:r>
            <a:endParaRPr lang="en-US" sz="1800" dirty="0"/>
          </a:p>
        </p:txBody>
      </p:sp>
      <p:sp>
        <p:nvSpPr>
          <p:cNvPr id="15" name="Text 10"/>
          <p:cNvSpPr txBox="1"/>
          <p:nvPr/>
        </p:nvSpPr>
        <p:spPr>
          <a:xfrm>
            <a:off x="8275320" y="2286000"/>
            <a:ext cx="3108960" cy="274320"/>
          </a:xfrm>
          <a:prstGeom prst="rect">
            <a:avLst/>
          </a:prstGeom>
          <a:noFill/>
          <a:ln/>
        </p:spPr>
        <p:txBody>
          <a:bodyPr wrap="square" lIns="0" tIns="0" rIns="0" bIns="0" rtlCol="0" anchor="t"/>
          <a:lstStyle/>
          <a:p>
            <a:pPr indent="0" marL="0">
              <a:buNone/>
            </a:pPr>
            <a:r>
              <a:rPr lang="en-US" sz="1300" dirty="0">
                <a:solidFill>
                  <a:srgbClr val="5E7080"/>
                </a:solidFill>
                <a:latin typeface="Calibri" pitchFamily="34" charset="0"/>
                <a:ea typeface="Calibri" pitchFamily="34" charset="-122"/>
                <a:cs typeface="Calibri" pitchFamily="34" charset="-120"/>
              </a:rPr>
              <a:t>962 postings</a:t>
            </a:r>
            <a:endParaRPr lang="en-US" sz="1300" dirty="0"/>
          </a:p>
        </p:txBody>
      </p:sp>
      <p:graphicFrame>
        <p:nvGraphicFramePr>
          <p:cNvPr id="16" name="Chart 2" descr=""/>
          <p:cNvGraphicFramePr/>
          <p:nvPr/>
        </p:nvGraphicFramePr>
        <p:xfrm>
          <a:off x="8138160" y="2606040"/>
          <a:ext cx="3410712" cy="3429000"/>
        </p:xfrm>
        <a:graphic xmlns:a="http://schemas.openxmlformats.org/drawingml/2006/main">
          <a:graphicData uri="http://schemas.openxmlformats.org/drawingml/2006/chart">
            <c:chart xmlns:c="http://schemas.openxmlformats.org/drawingml/2006/chart" r:id="rId3"/>
          </a:graphicData>
        </a:graphic>
      </p:graphicFrame>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0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Skills that travel together</a:t>
            </a:r>
            <a:endParaRPr lang="en-US" sz="3400" dirty="0"/>
          </a:p>
        </p:txBody>
      </p:sp>
      <p:sp>
        <p:nvSpPr>
          <p:cNvPr id="3" name="Text 1"/>
          <p:cNvSpPr/>
          <p:nvPr>
            <p:ph idx="102" type="body" hasCustomPrompt="1"/>
          </p:nvPr>
        </p:nvSpPr>
        <p:spPr>
          <a:xfrm>
            <a:off x="548640" y="1133856"/>
            <a:ext cx="11094415" cy="502920"/>
          </a:xfrm>
          <a:prstGeom prst="rect">
            <a:avLst/>
          </a:prstGeom>
          <a:noFill/>
          <a:ln/>
        </p:spPr>
        <p:txBody>
          <a:bodyPr wrap="square" lIns="0" tIns="0" rIns="0" bIns="0" rtlCol="0" anchor="t"/>
          <a:lstStyle/>
          <a:p>
            <a:pPr algn="l" indent="0" marL="0">
              <a:buNone/>
            </a:pPr>
            <a:r>
              <a:rPr lang="en-US" sz="1800" dirty="0">
                <a:solidFill>
                  <a:schemeClr val="accent6"/>
                </a:solidFill>
              </a:rPr>
              <a:t>Pairs found together in postings, ranked by lift (how much more often than chance).</a:t>
            </a:r>
            <a:endParaRPr lang="en-US" sz="1800" dirty="0"/>
          </a:p>
        </p:txBody>
      </p:sp>
      <p:graphicFrame>
        <p:nvGraphicFramePr>
          <p:cNvPr id="5" name="Chart 0" descr=""/>
          <p:cNvGraphicFramePr/>
          <p:nvPr/>
        </p:nvGraphicFramePr>
        <p:xfrm>
          <a:off x="548640" y="1783080"/>
          <a:ext cx="6583680" cy="4389120"/>
        </p:xfrm>
        <a:graphic xmlns:a="http://schemas.openxmlformats.org/drawingml/2006/main">
          <a:graphicData uri="http://schemas.openxmlformats.org/drawingml/2006/chart">
            <c:chart xmlns:c="http://schemas.openxmlformats.org/drawingml/2006/chart" r:id="rId1"/>
          </a:graphicData>
        </a:graphic>
      </p:graphicFrame>
      <p:sp>
        <p:nvSpPr>
          <p:cNvPr id="6" name="lift card"/>
          <p:cNvSpPr/>
          <p:nvPr/>
        </p:nvSpPr>
        <p:spPr>
          <a:xfrm>
            <a:off x="7406640" y="1828800"/>
            <a:ext cx="4233672" cy="4297680"/>
          </a:xfrm>
          <a:prstGeom prst="roundRect">
            <a:avLst>
              <a:gd name="adj" fmla="val 2160"/>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7" name="Text 3"/>
          <p:cNvSpPr txBox="1"/>
          <p:nvPr/>
        </p:nvSpPr>
        <p:spPr>
          <a:xfrm>
            <a:off x="7635240" y="1965960"/>
            <a:ext cx="374904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Lift = P(A and B) / (P(A) × P(B))</a:t>
            </a:r>
            <a:endParaRPr lang="en-US" sz="1600" dirty="0"/>
          </a:p>
        </p:txBody>
      </p:sp>
      <p:sp>
        <p:nvSpPr>
          <p:cNvPr id="8" name="Text 4"/>
          <p:cNvSpPr txBox="1"/>
          <p:nvPr/>
        </p:nvSpPr>
        <p:spPr>
          <a:xfrm>
            <a:off x="7635240" y="2377440"/>
            <a:ext cx="3749040" cy="548640"/>
          </a:xfrm>
          <a:prstGeom prst="rect">
            <a:avLst/>
          </a:prstGeom>
          <a:noFill/>
          <a:ln/>
        </p:spPr>
        <p:txBody>
          <a:bodyPr wrap="square" lIns="0" tIns="0" rIns="0" bIns="0" rtlCol="0" anchor="t"/>
          <a:lstStyle/>
          <a:p>
            <a:pPr indent="0" marL="0">
              <a:buNone/>
            </a:pPr>
            <a:r>
              <a:rPr lang="en-US" sz="1400" dirty="0">
                <a:solidFill>
                  <a:srgbClr val="5E7080"/>
                </a:solidFill>
                <a:latin typeface="Calibri" pitchFamily="34" charset="0"/>
                <a:ea typeface="Calibri" pitchFamily="34" charset="-122"/>
                <a:cs typeface="Calibri" pitchFamily="34" charset="-120"/>
              </a:rPr>
              <a:t>Above 1: more often together than chance would predict.</a:t>
            </a:r>
            <a:endParaRPr lang="en-US" sz="1400" dirty="0"/>
          </a:p>
        </p:txBody>
      </p:sp>
      <p:sp>
        <p:nvSpPr>
          <p:cNvPr id="9" name="Text 5"/>
          <p:cNvSpPr txBox="1"/>
          <p:nvPr/>
        </p:nvSpPr>
        <p:spPr>
          <a:xfrm>
            <a:off x="7635240" y="3063240"/>
            <a:ext cx="3749040" cy="292608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Cloud skills cluster: employers list several clouds together</a:t>
            </a:r>
            <a:endParaRPr lang="en-US" sz="1500" dirty="0"/>
          </a:p>
          <a:p>
            <a:pPr marL="203200" indent="-2032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Python + SQL appear together in 166 postings (5.39%)</a:t>
            </a:r>
            <a:endParaRPr lang="en-US" sz="1500" dirty="0"/>
          </a:p>
          <a:p>
            <a:pPr marL="203200" indent="-2032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Soft skills co-occur often (213 postings) but with a lower lift because both are common</a:t>
            </a:r>
            <a:endParaRPr lang="en-US" sz="15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0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Where the text misleads</a:t>
            </a:r>
            <a:endParaRPr lang="en-US" sz="3400" dirty="0"/>
          </a:p>
        </p:txBody>
      </p:sp>
      <p:sp>
        <p:nvSpPr>
          <p:cNvPr id="3" name="Text 1"/>
          <p:cNvSpPr/>
          <p:nvPr>
            <p:ph idx="102" type="body" hasCustomPrompt="1"/>
          </p:nvPr>
        </p:nvSpPr>
        <p:spPr>
          <a:xfrm>
            <a:off x="548640" y="1133856"/>
            <a:ext cx="11094415" cy="502920"/>
          </a:xfrm>
          <a:prstGeom prst="rect">
            <a:avLst/>
          </a:prstGeom>
          <a:noFill/>
          <a:ln/>
        </p:spPr>
        <p:txBody>
          <a:bodyPr wrap="square" lIns="0" tIns="0" rIns="0" bIns="0" rtlCol="0" anchor="t"/>
          <a:lstStyle/>
          <a:p>
            <a:pPr algn="l" indent="0" marL="0">
              <a:buNone/>
            </a:pPr>
            <a:r>
              <a:rPr lang="en-US" sz="1800" dirty="0">
                <a:solidFill>
                  <a:schemeClr val="accent6"/>
                </a:solidFill>
              </a:rPr>
              <a:t>Error analysis: boilerplate fills the phrase counts, and “excel” is often a verb.</a:t>
            </a:r>
            <a:endParaRPr lang="en-US" sz="1800" dirty="0"/>
          </a:p>
        </p:txBody>
      </p:sp>
      <p:sp>
        <p:nvSpPr>
          <p:cNvPr id="5" name="boilerplate card"/>
          <p:cNvSpPr/>
          <p:nvPr/>
        </p:nvSpPr>
        <p:spPr>
          <a:xfrm>
            <a:off x="548640" y="1828800"/>
            <a:ext cx="5989320" cy="4343400"/>
          </a:xfrm>
          <a:prstGeom prst="roundRect">
            <a:avLst>
              <a:gd name="adj" fmla="val 2105"/>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6" name="Text 3"/>
          <p:cNvSpPr txBox="1"/>
          <p:nvPr/>
        </p:nvSpPr>
        <p:spPr>
          <a:xfrm>
            <a:off x="777240" y="1920240"/>
            <a:ext cx="365760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Top two-word phrases (postings)</a:t>
            </a:r>
            <a:endParaRPr lang="en-US" sz="1600" dirty="0"/>
          </a:p>
        </p:txBody>
      </p:sp>
      <p:sp>
        <p:nvSpPr>
          <p:cNvPr id="7" name="pill boilerplate"/>
          <p:cNvSpPr/>
          <p:nvPr/>
        </p:nvSpPr>
        <p:spPr>
          <a:xfrm>
            <a:off x="4480560" y="1938528"/>
            <a:ext cx="1005840" cy="274320"/>
          </a:xfrm>
          <a:prstGeom prst="roundRect">
            <a:avLst>
              <a:gd name="adj" fmla="val 50000"/>
            </a:avLst>
          </a:prstGeom>
          <a:solidFill>
            <a:srgbClr val="F2A541"/>
          </a:solidFill>
          <a:ln w="6350">
            <a:solidFill>
              <a:srgbClr val="F2A541"/>
            </a:solidFill>
            <a:prstDash val="solid"/>
          </a:ln>
        </p:spPr>
      </p:sp>
      <p:sp>
        <p:nvSpPr>
          <p:cNvPr id="8" name="Text 5"/>
          <p:cNvSpPr txBox="1"/>
          <p:nvPr/>
        </p:nvSpPr>
        <p:spPr>
          <a:xfrm>
            <a:off x="4480560" y="1938528"/>
            <a:ext cx="1005840" cy="274320"/>
          </a:xfrm>
          <a:prstGeom prst="rect">
            <a:avLst/>
          </a:prstGeom>
          <a:noFill/>
          <a:ln/>
        </p:spPr>
        <p:txBody>
          <a:bodyPr wrap="square" lIns="0" tIns="0" rIns="0" bIns="0" rtlCol="0" anchor="ctr"/>
          <a:lstStyle/>
          <a:p>
            <a:pPr algn="ctr" indent="0" marL="0">
              <a:buNone/>
            </a:pPr>
            <a:r>
              <a:rPr lang="en-US" sz="1100" b="1" dirty="0">
                <a:solidFill>
                  <a:srgbClr val="1B2733"/>
                </a:solidFill>
                <a:latin typeface="Calibri" pitchFamily="34" charset="0"/>
                <a:ea typeface="Calibri" pitchFamily="34" charset="-122"/>
                <a:cs typeface="Calibri" pitchFamily="34" charset="-120"/>
              </a:rPr>
              <a:t>boilerplate</a:t>
            </a:r>
            <a:endParaRPr lang="en-US" sz="1100" dirty="0"/>
          </a:p>
        </p:txBody>
      </p:sp>
      <p:sp>
        <p:nvSpPr>
          <p:cNvPr id="9" name="pill content"/>
          <p:cNvSpPr/>
          <p:nvPr/>
        </p:nvSpPr>
        <p:spPr>
          <a:xfrm>
            <a:off x="5577840" y="1938528"/>
            <a:ext cx="868680" cy="274320"/>
          </a:xfrm>
          <a:prstGeom prst="roundRect">
            <a:avLst>
              <a:gd name="adj" fmla="val 50000"/>
            </a:avLst>
          </a:prstGeom>
          <a:solidFill>
            <a:srgbClr val="0E9AA7"/>
          </a:solidFill>
          <a:ln w="6350">
            <a:solidFill>
              <a:srgbClr val="0E9AA7"/>
            </a:solidFill>
            <a:prstDash val="solid"/>
          </a:ln>
        </p:spPr>
      </p:sp>
      <p:sp>
        <p:nvSpPr>
          <p:cNvPr id="10" name="Text 7"/>
          <p:cNvSpPr txBox="1"/>
          <p:nvPr/>
        </p:nvSpPr>
        <p:spPr>
          <a:xfrm>
            <a:off x="5577840" y="1938528"/>
            <a:ext cx="8686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content</a:t>
            </a:r>
            <a:endParaRPr lang="en-US" sz="1100" dirty="0"/>
          </a:p>
        </p:txBody>
      </p:sp>
      <p:graphicFrame>
        <p:nvGraphicFramePr>
          <p:cNvPr id="11" name="Chart 0" descr=""/>
          <p:cNvGraphicFramePr/>
          <p:nvPr/>
        </p:nvGraphicFramePr>
        <p:xfrm>
          <a:off x="640080" y="2286000"/>
          <a:ext cx="5806440" cy="3154680"/>
        </p:xfrm>
        <a:graphic xmlns:a="http://schemas.openxmlformats.org/drawingml/2006/main">
          <a:graphicData uri="http://schemas.openxmlformats.org/drawingml/2006/chart">
            <c:chart xmlns:c="http://schemas.openxmlformats.org/drawingml/2006/chart" r:id="rId1"/>
          </a:graphicData>
        </a:graphic>
      </p:graphicFrame>
      <p:sp>
        <p:nvSpPr>
          <p:cNvPr id="12" name="Text 8"/>
          <p:cNvSpPr txBox="1"/>
          <p:nvPr/>
        </p:nvSpPr>
        <p:spPr>
          <a:xfrm>
            <a:off x="777240" y="5532120"/>
            <a:ext cx="5532120" cy="54864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7 of the top 10 phrases are boilerplate. Fix: remove boilerplate before counting terms.</a:t>
            </a:r>
            <a:endParaRPr lang="en-US" sz="1400" dirty="0"/>
          </a:p>
        </p:txBody>
      </p:sp>
      <p:sp>
        <p:nvSpPr>
          <p:cNvPr id="13" name="excel card"/>
          <p:cNvSpPr/>
          <p:nvPr/>
        </p:nvSpPr>
        <p:spPr>
          <a:xfrm>
            <a:off x="6766560" y="1828800"/>
            <a:ext cx="4873752" cy="4343400"/>
          </a:xfrm>
          <a:prstGeom prst="roundRect">
            <a:avLst>
              <a:gd name="adj" fmla="val 2105"/>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14" name="Text 10"/>
          <p:cNvSpPr txBox="1"/>
          <p:nvPr/>
        </p:nvSpPr>
        <p:spPr>
          <a:xfrm>
            <a:off x="6995160" y="1920240"/>
            <a:ext cx="448056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194 “Excel” extractions by cue words</a:t>
            </a:r>
            <a:endParaRPr lang="en-US" sz="1600" dirty="0"/>
          </a:p>
        </p:txBody>
      </p:sp>
      <p:graphicFrame>
        <p:nvGraphicFramePr>
          <p:cNvPr id="15" name="Chart 1" descr=""/>
          <p:cNvGraphicFramePr/>
          <p:nvPr/>
        </p:nvGraphicFramePr>
        <p:xfrm>
          <a:off x="6858000" y="2240280"/>
          <a:ext cx="4663440" cy="2377440"/>
        </p:xfrm>
        <a:graphic xmlns:a="http://schemas.openxmlformats.org/drawingml/2006/main">
          <a:graphicData uri="http://schemas.openxmlformats.org/drawingml/2006/chart">
            <c:chart xmlns:c="http://schemas.openxmlformats.org/drawingml/2006/chart" r:id="rId2"/>
          </a:graphicData>
        </a:graphic>
      </p:graphicFrame>
      <p:sp>
        <p:nvSpPr>
          <p:cNvPr id="16" name="Text 11"/>
          <p:cNvSpPr txBox="1"/>
          <p:nvPr/>
        </p:nvSpPr>
        <p:spPr>
          <a:xfrm>
            <a:off x="6995160" y="4709160"/>
            <a:ext cx="4480560" cy="82296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chemeClr val="tx1"/>
                </a:solidFill>
                <a:latin typeface="Calibri" pitchFamily="34" charset="0"/>
                <a:ea typeface="Calibri" pitchFamily="34" charset="-122"/>
                <a:cs typeface="Calibri" pitchFamily="34" charset="-120"/>
              </a:rPr>
              <a:t>“… a diverse and inclusive culture where everyone can excel”</a:t>
            </a:r>
            <a:endParaRPr lang="en-US" sz="1300" dirty="0"/>
          </a:p>
          <a:p>
            <a:pPr marL="203200" indent="-203200">
              <a:spcAft>
                <a:spcPts val="400"/>
              </a:spcAft>
              <a:buSzPct val="100000"/>
              <a:buChar char="•"/>
            </a:pPr>
            <a:r>
              <a:rPr lang="en-US" sz="1300" dirty="0">
                <a:solidFill>
                  <a:schemeClr val="tx1"/>
                </a:solidFill>
                <a:latin typeface="Calibri" pitchFamily="34" charset="0"/>
                <a:ea typeface="Calibri" pitchFamily="34" charset="-122"/>
                <a:cs typeface="Calibri" pitchFamily="34" charset="-120"/>
              </a:rPr>
              <a:t>“You excel in analytical thinking and problem solving”</a:t>
            </a:r>
            <a:endParaRPr lang="en-US" sz="1300" dirty="0"/>
          </a:p>
        </p:txBody>
      </p:sp>
      <p:sp>
        <p:nvSpPr>
          <p:cNvPr id="17" name="Text 12"/>
          <p:cNvSpPr txBox="1"/>
          <p:nvPr/>
        </p:nvSpPr>
        <p:spPr>
          <a:xfrm>
            <a:off x="6995160" y="5577840"/>
            <a:ext cx="4480560" cy="548640"/>
          </a:xfrm>
          <a:prstGeom prst="rect">
            <a:avLst/>
          </a:prstGeom>
          <a:noFill/>
          <a:ln/>
        </p:spPr>
        <p:txBody>
          <a:bodyPr wrap="square" lIns="0" tIns="0" rIns="0" bIns="0" rtlCol="0" anchor="t"/>
          <a:lstStyle/>
          <a:p>
            <a:pPr indent="0" marL="0">
              <a:buNone/>
            </a:pPr>
            <a:r>
              <a:rPr lang="en-US" sz="1200" i="1" dirty="0">
                <a:solidFill>
                  <a:srgbClr val="5E7080"/>
                </a:solidFill>
                <a:latin typeface="Calibri" pitchFamily="34" charset="0"/>
                <a:ea typeface="Calibri" pitchFamily="34" charset="-122"/>
                <a:cs typeface="Calibri" pitchFamily="34" charset="-120"/>
              </a:rPr>
              <a:t>Cue-word audit, not hand-labelled data. Also known: “Data Science” is a field, not a tool; snippets cap recall.</a:t>
            </a:r>
            <a:endParaRPr lang="en-US" sz="12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0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Delivered, and honest about scope</a:t>
            </a:r>
            <a:endParaRPr lang="en-US" sz="3400" dirty="0"/>
          </a:p>
        </p:txBody>
      </p:sp>
      <p:sp>
        <p:nvSpPr>
          <p:cNvPr id="3" name="Text 1"/>
          <p:cNvSpPr/>
          <p:nvPr>
            <p:ph idx="102" type="body" hasCustomPrompt="1"/>
          </p:nvPr>
        </p:nvSpPr>
        <p:spPr>
          <a:xfrm>
            <a:off x="548640" y="1133856"/>
            <a:ext cx="11094415" cy="502920"/>
          </a:xfrm>
          <a:prstGeom prst="rect">
            <a:avLst/>
          </a:prstGeom>
          <a:noFill/>
          <a:ln/>
        </p:spPr>
        <p:txBody>
          <a:bodyPr wrap="square" lIns="0" tIns="0" rIns="0" bIns="0" rtlCol="0" anchor="t"/>
          <a:lstStyle/>
          <a:p>
            <a:pPr algn="l" indent="0" marL="0">
              <a:buNone/>
            </a:pPr>
            <a:r>
              <a:rPr lang="en-US" sz="1800" dirty="0">
                <a:solidFill>
                  <a:schemeClr val="accent6"/>
                </a:solidFill>
              </a:rPr>
              <a:t>One endpoint feeds the dashboard; the claims match what the data can support.</a:t>
            </a:r>
            <a:endParaRPr lang="en-US" sz="1800" dirty="0"/>
          </a:p>
        </p:txBody>
      </p:sp>
      <p:sp>
        <p:nvSpPr>
          <p:cNvPr id="5" name="Market analytics page of the web UI frame"/>
          <p:cNvSpPr/>
          <p:nvPr/>
        </p:nvSpPr>
        <p:spPr>
          <a:xfrm>
            <a:off x="548640" y="1828800"/>
            <a:ext cx="5029200" cy="3101425"/>
          </a:xfrm>
          <a:prstGeom prst="roundRect">
            <a:avLst>
              <a:gd name="adj" fmla="val 2948"/>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pic>
        <p:nvPicPr>
          <p:cNvPr id="6" name="Image 0" descr="Market analytics page of the web UI">    </p:cNvPr>
          <p:cNvPicPr>
            <a:picLocks noChangeAspect="1"/>
          </p:cNvPicPr>
          <p:nvPr/>
        </p:nvPicPr>
        <p:blipFill>
          <a:blip r:embed="rId1"/>
          <a:stretch>
            <a:fillRect/>
          </a:stretch>
        </p:blipFill>
        <p:spPr>
          <a:xfrm>
            <a:off x="640080" y="1920240"/>
            <a:ext cx="4846320" cy="2918545"/>
          </a:xfrm>
          <a:prstGeom prst="rect">
            <a:avLst/>
          </a:prstGeom>
        </p:spPr>
      </p:pic>
      <p:sp>
        <p:nvSpPr>
          <p:cNvPr id="7" name="Text 3"/>
          <p:cNvSpPr txBox="1"/>
          <p:nvPr/>
        </p:nvSpPr>
        <p:spPr>
          <a:xfrm>
            <a:off x="548640" y="5113105"/>
            <a:ext cx="5029200" cy="128016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GET /api/v1/analytics/twsma returns the whole report</a:t>
            </a:r>
            <a:endParaRPr lang="en-US" sz="1400" dirty="0"/>
          </a:p>
          <a:p>
            <a:pPr marL="203200" indent="-2032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Cached: 2.4 s down to about 12 ms</a:t>
            </a:r>
            <a:endParaRPr lang="en-US" sz="1400" dirty="0"/>
          </a:p>
          <a:p>
            <a:pPr marL="203200" indent="-2032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The trend tab refuses to claim a trend (two snapshots only)</a:t>
            </a:r>
            <a:endParaRPr lang="en-US" sz="1400" dirty="0"/>
          </a:p>
        </p:txBody>
      </p:sp>
      <p:sp>
        <p:nvSpPr>
          <p:cNvPr id="8" name="scope card Claims"/>
          <p:cNvSpPr/>
          <p:nvPr/>
        </p:nvSpPr>
        <p:spPr>
          <a:xfrm>
            <a:off x="5852160" y="1828800"/>
            <a:ext cx="5788152" cy="1371600"/>
          </a:xfrm>
          <a:prstGeom prst="roundRect">
            <a:avLst>
              <a:gd name="adj" fmla="val 6667"/>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9" name="pill Claims"/>
          <p:cNvSpPr/>
          <p:nvPr/>
        </p:nvSpPr>
        <p:spPr>
          <a:xfrm>
            <a:off x="6080760" y="2011680"/>
            <a:ext cx="1463040" cy="329184"/>
          </a:xfrm>
          <a:prstGeom prst="roundRect">
            <a:avLst>
              <a:gd name="adj" fmla="val 50000"/>
            </a:avLst>
          </a:prstGeom>
          <a:solidFill>
            <a:srgbClr val="0E9AA7"/>
          </a:solidFill>
          <a:ln w="6350">
            <a:solidFill>
              <a:srgbClr val="0E9AA7"/>
            </a:solidFill>
            <a:prstDash val="solid"/>
          </a:ln>
        </p:spPr>
      </p:sp>
      <p:sp>
        <p:nvSpPr>
          <p:cNvPr id="10" name="Text 6"/>
          <p:cNvSpPr txBox="1"/>
          <p:nvPr/>
        </p:nvSpPr>
        <p:spPr>
          <a:xfrm>
            <a:off x="6080760" y="2011680"/>
            <a:ext cx="146304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Claims</a:t>
            </a:r>
            <a:endParaRPr lang="en-US" sz="1300" dirty="0"/>
          </a:p>
        </p:txBody>
      </p:sp>
      <p:sp>
        <p:nvSpPr>
          <p:cNvPr id="11" name="Text 7"/>
          <p:cNvSpPr txBox="1"/>
          <p:nvPr/>
        </p:nvSpPr>
        <p:spPr>
          <a:xfrm>
            <a:off x="7726680" y="1965960"/>
            <a:ext cx="3749040" cy="109728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Descriptive statistics of a real, collected sample; transparent rules; 67.6% of postings have at least one skill.</a:t>
            </a:r>
            <a:endParaRPr lang="en-US" sz="1400" dirty="0"/>
          </a:p>
        </p:txBody>
      </p:sp>
      <p:sp>
        <p:nvSpPr>
          <p:cNvPr id="12" name="scope card Does not claim"/>
          <p:cNvSpPr/>
          <p:nvPr/>
        </p:nvSpPr>
        <p:spPr>
          <a:xfrm>
            <a:off x="5852160" y="3310128"/>
            <a:ext cx="5788152" cy="1371600"/>
          </a:xfrm>
          <a:prstGeom prst="roundRect">
            <a:avLst>
              <a:gd name="adj" fmla="val 6667"/>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13" name="pill Does not claim"/>
          <p:cNvSpPr/>
          <p:nvPr/>
        </p:nvSpPr>
        <p:spPr>
          <a:xfrm>
            <a:off x="6080760" y="3493008"/>
            <a:ext cx="1463040" cy="329184"/>
          </a:xfrm>
          <a:prstGeom prst="roundRect">
            <a:avLst>
              <a:gd name="adj" fmla="val 50000"/>
            </a:avLst>
          </a:prstGeom>
          <a:solidFill>
            <a:srgbClr val="D9534F"/>
          </a:solidFill>
          <a:ln w="6350">
            <a:solidFill>
              <a:srgbClr val="D9534F"/>
            </a:solidFill>
            <a:prstDash val="solid"/>
          </a:ln>
        </p:spPr>
      </p:sp>
      <p:sp>
        <p:nvSpPr>
          <p:cNvPr id="14" name="Text 10"/>
          <p:cNvSpPr txBox="1"/>
          <p:nvPr/>
        </p:nvSpPr>
        <p:spPr>
          <a:xfrm>
            <a:off x="6080760" y="3493008"/>
            <a:ext cx="146304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Does not claim</a:t>
            </a:r>
            <a:endParaRPr lang="en-US" sz="1300" dirty="0"/>
          </a:p>
        </p:txBody>
      </p:sp>
      <p:sp>
        <p:nvSpPr>
          <p:cNvPr id="15" name="Text 11"/>
          <p:cNvSpPr txBox="1"/>
          <p:nvPr/>
        </p:nvSpPr>
        <p:spPr>
          <a:xfrm>
            <a:off x="7726680" y="3447288"/>
            <a:ext cx="3749040" cy="109728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An extraction accuracy figure (no hand-labelled set yet), market-wide trends, or salary and experience analytics.</a:t>
            </a:r>
            <a:endParaRPr lang="en-US" sz="1400" dirty="0"/>
          </a:p>
        </p:txBody>
      </p:sp>
      <p:sp>
        <p:nvSpPr>
          <p:cNvPr id="16" name="scope card Next steps"/>
          <p:cNvSpPr/>
          <p:nvPr/>
        </p:nvSpPr>
        <p:spPr>
          <a:xfrm>
            <a:off x="5852160" y="4791456"/>
            <a:ext cx="5788152" cy="1371600"/>
          </a:xfrm>
          <a:prstGeom prst="roundRect">
            <a:avLst>
              <a:gd name="adj" fmla="val 6667"/>
            </a:avLst>
          </a:prstGeom>
          <a:solidFill>
            <a:schemeClr val="bg1"/>
          </a:solidFill>
          <a:ln w="9525">
            <a:solidFill>
              <a:srgbClr val="DCE3E8"/>
            </a:solidFill>
            <a:prstDash val="solid"/>
          </a:ln>
          <a:effectLst>
            <a:outerShdw sx="100000" sy="100000" kx="0" ky="0" algn="bl" rotWithShape="0" blurRad="101600" dist="25400" dir="5400000">
              <a:srgbClr val="000000">
                <a:alpha val="10000"/>
              </a:srgbClr>
            </a:outerShdw>
          </a:effectLst>
        </p:spPr>
      </p:sp>
      <p:sp>
        <p:nvSpPr>
          <p:cNvPr id="17" name="pill Next steps"/>
          <p:cNvSpPr/>
          <p:nvPr/>
        </p:nvSpPr>
        <p:spPr>
          <a:xfrm>
            <a:off x="6080760" y="4974336"/>
            <a:ext cx="1463040" cy="329184"/>
          </a:xfrm>
          <a:prstGeom prst="roundRect">
            <a:avLst>
              <a:gd name="adj" fmla="val 50000"/>
            </a:avLst>
          </a:prstGeom>
          <a:solidFill>
            <a:srgbClr val="3F7CAC"/>
          </a:solidFill>
          <a:ln w="6350">
            <a:solidFill>
              <a:srgbClr val="3F7CAC"/>
            </a:solidFill>
            <a:prstDash val="solid"/>
          </a:ln>
        </p:spPr>
      </p:sp>
      <p:sp>
        <p:nvSpPr>
          <p:cNvPr id="18" name="Text 14"/>
          <p:cNvSpPr txBox="1"/>
          <p:nvPr/>
        </p:nvSpPr>
        <p:spPr>
          <a:xfrm>
            <a:off x="6080760" y="4974336"/>
            <a:ext cx="146304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Next steps</a:t>
            </a:r>
            <a:endParaRPr lang="en-US" sz="1300" dirty="0"/>
          </a:p>
        </p:txBody>
      </p:sp>
      <p:sp>
        <p:nvSpPr>
          <p:cNvPr id="19" name="Text 15"/>
          <p:cNvSpPr txBox="1"/>
          <p:nvPr/>
        </p:nvSpPr>
        <p:spPr>
          <a:xfrm>
            <a:off x="7726680" y="4928616"/>
            <a:ext cx="3749040" cy="109728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Hand-label about 200 postings for precision and recall; context rules for “excel”; boilerplate removal; daily collection for trends.</a:t>
            </a:r>
            <a:endParaRPr lang="en-US" sz="1400" dirty="0"/>
          </a:p>
        </p:txBody>
      </p:sp>
      <p:sp>
        <p:nvSpPr>
          <p:cNvPr id="25" name="Slide Number Placeholder 0"/>
          <p:cNvSpPr>
            <a:spLocks noGrp="1"/>
          </p:cNvSpPr>
          <p:nvPr>
            <p:ph type="sldNum" sz="quarter" idx="4294967295"/>
          </p:nvPr>
        </p:nvSpPr>
        <p:spPr>
          <a:xfrm>
            <a:off x="11185855" y="641908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E70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JobIntel TWSMA">
  <a:themeElements>
    <a:clrScheme name="JobIntel TWSMA">
      <a:dk1>
        <a:srgbClr val="1B2733"/>
      </a:dk1>
      <a:lt1>
        <a:srgbClr val="FFFFFF"/>
      </a:lt1>
      <a:dk2>
        <a:srgbClr val="0B2B3B"/>
      </a:dk2>
      <a:lt2>
        <a:srgbClr val="EEF4F6"/>
      </a:lt2>
      <a:accent1>
        <a:srgbClr val="0E9AA7"/>
      </a:accent1>
      <a:accent2>
        <a:srgbClr val="F2A541"/>
      </a:accent2>
      <a:accent3>
        <a:srgbClr val="3F7CAC"/>
      </a:accent3>
      <a:accent4>
        <a:srgbClr val="7BB8B0"/>
      </a:accent4>
      <a:accent5>
        <a:srgbClr val="D9534F"/>
      </a:accent5>
      <a:accent6>
        <a:srgbClr val="5E7080"/>
      </a:accent6>
      <a:hlink>
        <a:srgbClr val="0E7C86"/>
      </a:hlink>
      <a:folHlink>
        <a:srgbClr val="5E7080"/>
      </a:folHlink>
    </a:clrScheme>
    <a:fontScheme name="JobIntel TWSM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JobIntel: turning job postings into market intelligence</dc:title>
  <dc:subject>JobIntel · Text, Web &amp; Social Media Analytics</dc:subject>
  <dc:creator>JobIntel project</dc:creator>
  <cp:lastModifiedBy>JobIntel project</cp:lastModifiedBy>
  <cp:revision>1</cp:revision>
  <dcterms:created xsi:type="dcterms:W3CDTF">2026-10-26T12:29:42Z</dcterms:created>
  <dcterms:modified xsi:type="dcterms:W3CDTF">2026-10-26T12:29:42Z</dcterms:modified>
</cp:coreProperties>
</file>