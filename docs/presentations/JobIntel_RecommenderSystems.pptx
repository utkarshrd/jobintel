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Skill</c:v>
                  </c:pt>
                  <c:pt idx="1">
                    <c:v>Content</c:v>
                  </c:pt>
                  <c:pt idx="2">
                    <c:v>Role</c:v>
                  </c:pt>
                  <c:pt idx="3">
                    <c:v>Behaviour</c:v>
                  </c:pt>
                  <c:pt idx="4">
                    <c:v>Location</c:v>
                  </c:pt>
                  <c:pt idx="5">
                    <c:v>Recency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</c:v>
                </c:pt>
                <c:pt idx="1">
                  <c:v>0.3</c:v>
                </c:pt>
                <c:pt idx="2">
                  <c:v>0.1</c:v>
                </c:pt>
                <c:pt idx="3">
                  <c:v>0.1</c:v>
                </c:pt>
                <c:pt idx="4">
                  <c:v>0.06</c:v>
                </c:pt>
                <c:pt idx="5">
                  <c:v>0.05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020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0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66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View</c:v>
                  </c:pt>
                  <c:pt idx="1">
                    <c:v>Click</c:v>
                  </c:pt>
                  <c:pt idx="2">
                    <c:v>Save</c:v>
                  </c:pt>
                  <c:pt idx="3">
                    <c:v>Apply</c:v>
                  </c:pt>
                  <c:pt idx="4">
                    <c:v>Skip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0.25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-1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020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0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"/>
          <c:min val="-1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66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(4 personas)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Hybrid</c:v>
                  </c:pt>
                  <c:pt idx="1">
                    <c:v>Content</c:v>
                  </c:pt>
                  <c:pt idx="2">
                    <c:v>Skills</c:v>
                  </c:pt>
                  <c:pt idx="3">
                    <c:v>Popularity</c:v>
                  </c:pt>
                  <c:pt idx="4">
                    <c:v>Random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0.451</c:v>
                </c:pt>
                <c:pt idx="1">
                  <c:v>0.319</c:v>
                </c:pt>
                <c:pt idx="2">
                  <c:v>0.315</c:v>
                </c:pt>
                <c:pt idx="3">
                  <c:v>0.149</c:v>
                </c:pt>
                <c:pt idx="4">
                  <c:v>0.16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(2 personas)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Hybrid</c:v>
                  </c:pt>
                  <c:pt idx="1">
                    <c:v>Content</c:v>
                  </c:pt>
                  <c:pt idx="2">
                    <c:v>Skills</c:v>
                  </c:pt>
                  <c:pt idx="3">
                    <c:v>Popularity</c:v>
                  </c:pt>
                  <c:pt idx="4">
                    <c:v>Random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0.831</c:v>
                </c:pt>
                <c:pt idx="1">
                  <c:v>0.7</c:v>
                </c:pt>
                <c:pt idx="2">
                  <c:v>0.652</c:v>
                </c:pt>
                <c:pt idx="3">
                  <c:v>0.35</c:v>
                </c:pt>
                <c:pt idx="4">
                  <c:v>0.31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020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0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66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 (48 personas)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Hybrid</c:v>
                  </c:pt>
                  <c:pt idx="1">
                    <c:v>Content</c:v>
                  </c:pt>
                  <c:pt idx="2">
                    <c:v>Skills</c:v>
                  </c:pt>
                  <c:pt idx="3">
                    <c:v>Popularity</c:v>
                  </c:pt>
                  <c:pt idx="4">
                    <c:v>Random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0.483</c:v>
                </c:pt>
                <c:pt idx="1">
                  <c:v>0.142</c:v>
                </c:pt>
                <c:pt idx="2">
                  <c:v>0.064</c:v>
                </c:pt>
                <c:pt idx="3">
                  <c:v>0.01</c:v>
                </c:pt>
                <c:pt idx="4">
                  <c:v>0.012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(12 personas)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Hybrid</c:v>
                  </c:pt>
                  <c:pt idx="1">
                    <c:v>Content</c:v>
                  </c:pt>
                  <c:pt idx="2">
                    <c:v>Skills</c:v>
                  </c:pt>
                  <c:pt idx="3">
                    <c:v>Popularity</c:v>
                  </c:pt>
                  <c:pt idx="4">
                    <c:v>Random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0.668</c:v>
                </c:pt>
                <c:pt idx="1">
                  <c:v>0.597</c:v>
                </c:pt>
                <c:pt idx="2">
                  <c:v>0.107</c:v>
                </c:pt>
                <c:pt idx="3">
                  <c:v>0.039</c:v>
                </c:pt>
                <c:pt idx="4">
                  <c:v>0.033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020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0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2668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One-sentence pitch: JobIntel ranks real job postings for a user with four strategies, explains every result, learns only from the user's real activity, and is evaluated honestly with a clearly labelled offline proxy. Inputs are job features from the NLP pipeline, the profile the user entered, and real interactions only; nothing is simulated. A second deck covers the text analytics that produce the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design challenges shape the whole system. Cold start: new users have no history. Sparse features: Adzuna snippets give under two skills per job. Missing fields: salary and experience are mostly unavailable, so we cannot score them. Trust: users need reasons, not just a ranked list. The ranker uses three real inputs: job features from the NLP pipeline, the user's profile, and real interactions only; nothing is simulated or seeded.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strategies. Popularity is a recency proxy because there are no interaction counts yet. Skills is the share of the job's skills that the user has. Content is TF-IDF cosine similarity between profile text and job text. Hybrid is a weighted mix. They all use one ranking implementation, which also guarantees the evaluation tests exactly what production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illustration on real data, computed live from the database. Popularity ignores the user: its top job is a manager role in Pune. Skills ties many jobs at a perfect 1.0. Content picks title and wording matches. Hybrid blends skills, wording, role and location, so its top job is a Bengaluru role that matches Python and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signals are pure functions, each with a defined unavailable case. The hybrid score is a weighted average, but only over the signals the user actually has data for. The chart shows the configured raw weights. For a user with no activity the behaviour weight is dropped and the others renormalise, so skill becomes 41 percent, content 35, role 12, location 7 and recency 6. Missing data is never rewarded: if the user lacks a signal it is dropped for everyone, so it cannot favour any job; if a job lacks a skill, city or date it earns 0 for that signal. Ties are broken by job id so rankings are deterministic. Weights are starting values, not tuned.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never claims personalisation it has not done. A brand-new account is cold start: recency only, and the UI says so. Adding profile data makes the user profile-based. Real saves, applies, views and skips make them interaction-informed once evidence reaches 1.0, for example one save. The behavioural layer is deliberately simple: each action has a fixed weight, summed per job and clamped so spamming views cannot dominate; a save followed by a skip cancels out. From liked jobs we build preference tables over skills, role category and city, and measure similarity to the liked jobs, excluding the job itself. Similarity to a skipped job is a penalty, and skipped jobs are hidden. No collaborative filtering because there is no interaction volume to justify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example from the database, and the live app. Each reason is generated from a signal that was both active for this user and positive for this job, so the explanation is a faithful summary of the score. The screenshot shows the same feed after one save: the banner says interaction-informed, the saved job shows its state, and new reasons such as similar to a job you saved appear. One endpoint serves this: it takes the strategy, a limit and optional weight overrides, and returns rank, score, per-signal scores, reasons and the personalization mode; a request takes about 0.6 seconds over 3,079 jobs because the TF-IDF corpus is cached.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there are zero real users and zero interactions, so there is no ground truth. The proxy uses the only real label available: which Adzuna search returned each job. A persona is one search query; jobs it returned are relevant; half are hidden as labels and the other half build the persona's profile. The strategies rank the rest. Metrics are Precision, Recall and NDCG at K, plus diversity, with a random ranking as the floor. The winner rule was fixed before the first run and never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runs. Run 1, the original 75-job collection: in Scenario B, role only, Hybrid is the clear winner under the pre-declared rule; in Scenario A it has the highest mean but loses to Popularity on one persona, Data Scientist in Hyderabad. Run 2, the larger live collection of 2,118 jobs with 48 and 12 personas: Hybrid has the best average in both scenarios and its lead over Content is clear, with confidence intervals above zero, but it is best in 46 of 48 and 8 of 12 personas, not all, so the every-persona rule is not met and no overall winner is claimed. The rule was not relaxed after seeing results. Skills is weak in run 2 because most Adzuna snippets yield few skills. Popularity performs at or near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conclusion. Supported: Hybrid, Content and, on the first run, Skills beat a random ranking; Popularity does not; Hybrid wins the role-only scenario on the original data. Not supported: a clear overall winner under the pre-declared rule, anything about real users or production accuracy, and anything about the behavioural layer, which has not been evaluated on real users. Be ready to explain circularity: the query defines both the persona and the label, and location nearly gives the label away in Scenario A. Next steps answer each limitation: collect real interactions, tune weights on real feedback, consider collaborative filtering only if volume justifies it. Offer the live demo: sign up, build a profile, save a job, read the reasons.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1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JobIntel · Recommendation Systems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hybrid job recommender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Recommendation Systems project: four strategies, cold-start handling, behaviour learning and an honest offline evaluation</a:t>
            </a:r>
            <a:endParaRPr lang="en-US" sz="2000" dirty="0"/>
          </a:p>
        </p:txBody>
      </p:sp>
      <p:sp>
        <p:nvSpPr>
          <p:cNvPr id="4" name="pill JobIntel"/>
          <p:cNvSpPr/>
          <p:nvPr/>
        </p:nvSpPr>
        <p:spPr>
          <a:xfrm>
            <a:off x="731520" y="731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JobIntel</a:t>
            </a:r>
            <a:endParaRPr lang="en-US" sz="1500" dirty="0"/>
          </a:p>
        </p:txBody>
      </p:sp>
      <p:sp>
        <p:nvSpPr>
          <p:cNvPr id="6" name="stat tile recommendation strategies"/>
          <p:cNvSpPr/>
          <p:nvPr/>
        </p:nvSpPr>
        <p:spPr>
          <a:xfrm>
            <a:off x="8778240" y="14173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2B2766"/>
          </a:solidFill>
          <a:ln w="9525">
            <a:solidFill>
              <a:srgbClr val="3D38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06840" y="15270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9A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strategies</a:t>
            </a:r>
            <a:endParaRPr lang="en-US" sz="1500" dirty="0"/>
          </a:p>
        </p:txBody>
      </p:sp>
      <p:sp>
        <p:nvSpPr>
          <p:cNvPr id="9" name="stat tile ranking signals"/>
          <p:cNvSpPr/>
          <p:nvPr/>
        </p:nvSpPr>
        <p:spPr>
          <a:xfrm>
            <a:off x="8778240" y="30175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2B2766"/>
          </a:solidFill>
          <a:ln w="9525">
            <a:solidFill>
              <a:srgbClr val="3D38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06840" y="31272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9A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signals</a:t>
            </a:r>
            <a:endParaRPr lang="en-US" sz="1500" dirty="0"/>
          </a:p>
        </p:txBody>
      </p:sp>
      <p:sp>
        <p:nvSpPr>
          <p:cNvPr id="12" name="stat tile real job postings"/>
          <p:cNvSpPr/>
          <p:nvPr/>
        </p:nvSpPr>
        <p:spPr>
          <a:xfrm>
            <a:off x="8778240" y="461772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2B2766"/>
          </a:solidFill>
          <a:ln w="9525">
            <a:solidFill>
              <a:srgbClr val="3D38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06840" y="4727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A9A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5486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job postings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jobs, too little guidance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job feed must be relevant, explainable, and honest about what it does not know.</a:t>
            </a:r>
            <a:endParaRPr lang="en-US" sz="1800" dirty="0"/>
          </a:p>
        </p:txBody>
      </p:sp>
      <p:sp>
        <p:nvSpPr>
          <p:cNvPr id="5" name="challenge Cold start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Cold start circle"/>
          <p:cNvSpPr/>
          <p:nvPr/>
        </p:nvSpPr>
        <p:spPr>
          <a:xfrm>
            <a:off x="822960" y="2240280"/>
            <a:ext cx="731520" cy="7315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7" name="Image 0" descr="Cold 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41584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7490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has no history to learn from.</a:t>
            </a:r>
            <a:endParaRPr lang="en-US" sz="1600" dirty="0"/>
          </a:p>
        </p:txBody>
      </p:sp>
      <p:sp>
        <p:nvSpPr>
          <p:cNvPr id="10" name="challenge Sparse features"/>
          <p:cNvSpPr/>
          <p:nvPr/>
        </p:nvSpPr>
        <p:spPr>
          <a:xfrm>
            <a:off x="3378098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parse features circle"/>
          <p:cNvSpPr/>
          <p:nvPr/>
        </p:nvSpPr>
        <p:spPr>
          <a:xfrm>
            <a:off x="3652418" y="2240280"/>
            <a:ext cx="731520" cy="731520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12" name="Image 1" descr="Sparse featu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983" y="241584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52418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features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3652418" y="37490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snippets yield under two skills per job.</a:t>
            </a:r>
            <a:endParaRPr lang="en-US" sz="1600" dirty="0"/>
          </a:p>
        </p:txBody>
      </p:sp>
      <p:sp>
        <p:nvSpPr>
          <p:cNvPr id="15" name="challenge Missing fields"/>
          <p:cNvSpPr/>
          <p:nvPr/>
        </p:nvSpPr>
        <p:spPr>
          <a:xfrm>
            <a:off x="6207557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Missing fields circle"/>
          <p:cNvSpPr/>
          <p:nvPr/>
        </p:nvSpPr>
        <p:spPr>
          <a:xfrm>
            <a:off x="6481877" y="2240280"/>
            <a:ext cx="731520" cy="7315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pic>
        <p:nvPicPr>
          <p:cNvPr id="17" name="Image 2" descr="Missing fiel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442" y="241584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81877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fields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6481877" y="37490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experience and work model are mostly unavailable.</a:t>
            </a:r>
            <a:endParaRPr lang="en-US" sz="1600" dirty="0"/>
          </a:p>
        </p:txBody>
      </p:sp>
      <p:sp>
        <p:nvSpPr>
          <p:cNvPr id="20" name="challenge Trust"/>
          <p:cNvSpPr/>
          <p:nvPr/>
        </p:nvSpPr>
        <p:spPr>
          <a:xfrm>
            <a:off x="9037015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rust circle"/>
          <p:cNvSpPr/>
          <p:nvPr/>
        </p:nvSpPr>
        <p:spPr>
          <a:xfrm>
            <a:off x="9311335" y="2240280"/>
            <a:ext cx="731520" cy="731520"/>
          </a:xfrm>
          <a:prstGeom prst="ellipse">
            <a:avLst/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pic>
        <p:nvPicPr>
          <p:cNvPr id="22" name="Image 3" descr="Tru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415845"/>
            <a:ext cx="380390" cy="38039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11335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2200" dirty="0"/>
          </a:p>
        </p:txBody>
      </p:sp>
      <p:sp>
        <p:nvSpPr>
          <p:cNvPr id="24" name="Text 17"/>
          <p:cNvSpPr txBox="1"/>
          <p:nvPr/>
        </p:nvSpPr>
        <p:spPr>
          <a:xfrm>
            <a:off x="9311335" y="374904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reasons, not only a ranked list.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job features (skills, role, city, text, date), the user's profile, and real activity only. Nothing is simulated.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response: simple, explainable methods; missing data is never rewarded; every result carries its reasons.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strategies, one ranking core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Each baseline is a single signal; the hybrid combines them. All share the same code.</a:t>
            </a:r>
            <a:endParaRPr lang="en-US" sz="1800" dirty="0"/>
          </a:p>
        </p:txBody>
      </p:sp>
      <p:sp>
        <p:nvSpPr>
          <p:cNvPr id="5" name="strategy Popularity"/>
          <p:cNvSpPr/>
          <p:nvPr/>
        </p:nvSpPr>
        <p:spPr>
          <a:xfrm>
            <a:off x="548640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pill Popularity"/>
          <p:cNvSpPr/>
          <p:nvPr/>
        </p:nvSpPr>
        <p:spPr>
          <a:xfrm>
            <a:off x="777240" y="21031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first (recency percentile)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anyone, even with no data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personalised; no interaction counts exist yet</a:t>
            </a:r>
            <a:endParaRPr lang="en-US" sz="1400" dirty="0"/>
          </a:p>
        </p:txBody>
      </p:sp>
      <p:sp>
        <p:nvSpPr>
          <p:cNvPr id="14" name="strategy Skills"/>
          <p:cNvSpPr/>
          <p:nvPr/>
        </p:nvSpPr>
        <p:spPr>
          <a:xfrm>
            <a:off x="3378098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pill Skills"/>
          <p:cNvSpPr/>
          <p:nvPr/>
        </p:nvSpPr>
        <p:spPr>
          <a:xfrm>
            <a:off x="3606698" y="21031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06698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606698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606698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the job's skills you have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606698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606698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and easy to explain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06698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606698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postings have few or no extracted skills</a:t>
            </a:r>
            <a:endParaRPr lang="en-US" sz="1400" dirty="0"/>
          </a:p>
        </p:txBody>
      </p:sp>
      <p:sp>
        <p:nvSpPr>
          <p:cNvPr id="23" name="strategy TF-IDF content"/>
          <p:cNvSpPr/>
          <p:nvPr/>
        </p:nvSpPr>
        <p:spPr>
          <a:xfrm>
            <a:off x="6207557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pill TF-IDF content"/>
          <p:cNvSpPr/>
          <p:nvPr/>
        </p:nvSpPr>
        <p:spPr>
          <a:xfrm>
            <a:off x="6436157" y="21031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36157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content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36157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36157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profile text and job text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36157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36157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full wording of the posting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36157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36157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vocabulary with job titles</a:t>
            </a:r>
            <a:endParaRPr lang="en-US" sz="1400" dirty="0"/>
          </a:p>
        </p:txBody>
      </p:sp>
      <p:sp>
        <p:nvSpPr>
          <p:cNvPr id="32" name="strategy Hybrid"/>
          <p:cNvSpPr/>
          <p:nvPr/>
        </p:nvSpPr>
        <p:spPr>
          <a:xfrm>
            <a:off x="9037015" y="1920240"/>
            <a:ext cx="2606040" cy="42062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pill Hybrid"/>
          <p:cNvSpPr/>
          <p:nvPr/>
        </p:nvSpPr>
        <p:spPr>
          <a:xfrm>
            <a:off x="9265615" y="210312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265615" y="2103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265615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265615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mix of all six signals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265615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265615" y="4069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when any one signal is missing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9265615" y="4892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265615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untuned starting values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user, four different top-3 lists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Demo profile: Data Analyst, skills SQL / Python / Machine Learning, prefers Bengaluru.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2770632"/>
                <a:gridCol w="2770632"/>
                <a:gridCol w="277977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Popularity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Skills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TF-IDF content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Hybrid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Manager, Data Science · Mastercard · Pune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(SQL) · Merito · Mumbai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· Digital Twin · Pune (0.57)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engineer · VY SYSTEMS PRIVATE LIMITED · Bengaluru (0.67)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Sr Software Engineer · Labcorp · Mumbai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- SQL · Unnati · Mumbai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· Recro · Bengaluru (0.50)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Engineer · Priceline · Mumbai (0.66)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Frontend Developer · Citigroup · Pune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Senior Data Scientist · Flipkart · Bengaluru (1.00)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· Wissen Technology · Bengaluru (0.48)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Data Analyst · Amagi Media Labs · Bengaluru (0.66)</a:t>
                      </a:r>
                      <a:endParaRPr lang="en-US" sz="1300" dirty="0"/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413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profile entirely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319272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319272" y="5413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many jobs at a perfect 1.00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089904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089904" y="5413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wording matches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860536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860536" y="541324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skills, wording, role, city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signals, one weighted score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signal that cannot be assessed is “unknown”, never a guess.</a:t>
            </a:r>
            <a:endParaRPr lang="en-US" sz="1800" dirty="0"/>
          </a:p>
        </p:txBody>
      </p:sp>
      <p:sp>
        <p:nvSpPr>
          <p:cNvPr id="5" name="formula"/>
          <p:cNvSpPr/>
          <p:nvPr/>
        </p:nvSpPr>
        <p:spPr>
          <a:xfrm>
            <a:off x="548640" y="17830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1E1B4B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78308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Score(u, j)  =  Σ wᵢ · sᵢ(u, j)  ÷  Σ wᵢ          over signals available for user u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7040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24688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is computed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Unknown when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Skill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matched ÷ the job's skills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job has no skills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Content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TF-IDF cosine: profile vs job text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no profile text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1 if preferred role matches title or category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only default category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Location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1 if job city is preferred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job has no city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Recency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date percentile (newest = 1)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job has no date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F46E5"/>
                          </a:solidFill>
                        </a:rPr>
                        <a:t>Behaviour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affinity from your own activity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203A"/>
                          </a:solidFill>
                        </a:rPr>
                        <a:t>not enough activity</a:t>
                      </a:r>
                      <a:endParaRPr lang="en-US" sz="1300" dirty="0"/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aw weights card"/>
          <p:cNvSpPr/>
          <p:nvPr/>
        </p:nvSpPr>
        <p:spPr>
          <a:xfrm>
            <a:off x="7772400" y="2697480"/>
            <a:ext cx="3867912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955280" y="2770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raw weights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818120" y="3108960"/>
          <a:ext cx="37490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never rewarded: signals the user lacks are dropped and weights renormalised; a job lacking a skill, city or date earns 0 for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honest states, learning from real activity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API and the UI always say which state a user is in.</a:t>
            </a:r>
            <a:endParaRPr lang="en-US" sz="1800" dirty="0"/>
          </a:p>
        </p:txBody>
      </p:sp>
      <p:sp>
        <p:nvSpPr>
          <p:cNvPr id="5" name="mode Cold start"/>
          <p:cNvSpPr/>
          <p:nvPr/>
        </p:nvSpPr>
        <p:spPr>
          <a:xfrm>
            <a:off x="54864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pill Cold start"/>
          <p:cNvSpPr/>
          <p:nvPr/>
        </p:nvSpPr>
        <p:spPr>
          <a:xfrm>
            <a:off x="777240" y="193852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profile and no activity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first; the UI says it is not personalised.</a:t>
            </a:r>
            <a:endParaRPr lang="en-US" sz="1400" dirty="0"/>
          </a:p>
        </p:txBody>
      </p:sp>
      <p:sp>
        <p:nvSpPr>
          <p:cNvPr id="10" name="mode arrow 1"/>
          <p:cNvSpPr/>
          <p:nvPr/>
        </p:nvSpPr>
        <p:spPr>
          <a:xfrm>
            <a:off x="4005072" y="2606040"/>
            <a:ext cx="347472" cy="347472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11" name="mode Profile-based"/>
          <p:cNvSpPr/>
          <p:nvPr/>
        </p:nvSpPr>
        <p:spPr>
          <a:xfrm>
            <a:off x="438912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pill Profile-based"/>
          <p:cNvSpPr/>
          <p:nvPr/>
        </p:nvSpPr>
        <p:spPr>
          <a:xfrm>
            <a:off x="4617720" y="193852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Profile-based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roles, locations or text entered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from the profile signals only.</a:t>
            </a:r>
            <a:endParaRPr lang="en-US" sz="1400" dirty="0"/>
          </a:p>
        </p:txBody>
      </p:sp>
      <p:sp>
        <p:nvSpPr>
          <p:cNvPr id="16" name="mode arrow 2"/>
          <p:cNvSpPr/>
          <p:nvPr/>
        </p:nvSpPr>
        <p:spPr>
          <a:xfrm>
            <a:off x="7845552" y="2606040"/>
            <a:ext cx="347472" cy="347472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17" name="mode Interaction-informed"/>
          <p:cNvSpPr/>
          <p:nvPr/>
        </p:nvSpPr>
        <p:spPr>
          <a:xfrm>
            <a:off x="8229600" y="1783080"/>
            <a:ext cx="342900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pill Interaction-informed"/>
          <p:cNvSpPr/>
          <p:nvPr/>
        </p:nvSpPr>
        <p:spPr>
          <a:xfrm>
            <a:off x="8458200" y="193852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5820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Interaction-informed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458200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saves, applies, views or skips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signal joins the profile signals.</a:t>
            </a:r>
            <a:endParaRPr lang="en-US" sz="1400" dirty="0"/>
          </a:p>
        </p:txBody>
      </p:sp>
      <p:sp>
        <p:nvSpPr>
          <p:cNvPr id="22" name="action weights card"/>
          <p:cNvSpPr/>
          <p:nvPr/>
        </p:nvSpPr>
        <p:spPr>
          <a:xfrm>
            <a:off x="548640" y="3977640"/>
            <a:ext cx="4937760" cy="224028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31520" y="4041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per interaction</a:t>
            </a:r>
            <a:endParaRPr lang="en-US" sz="14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0080" y="4297680"/>
          <a:ext cx="47548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5760720" y="402336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job: weights are summed and clamped to [−1.5, 2.0]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Liked jobs build skill, role and city preferences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mean of skill, role, city, similarity to a liked job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0.5 × similarity to a skipped job; skipped jobs hidden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only at evidence ≥ 1.0 (one save)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 explains itself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Reasons come only from signals that were active and non-zero. No boilerplate praise.</a:t>
            </a:r>
            <a:endParaRPr lang="en-US" sz="1800" dirty="0"/>
          </a:p>
        </p:txBody>
      </p:sp>
      <p:sp>
        <p:nvSpPr>
          <p:cNvPr id="5" name="explanation card"/>
          <p:cNvSpPr/>
          <p:nvPr/>
        </p:nvSpPr>
        <p:spPr>
          <a:xfrm>
            <a:off x="548640" y="1828800"/>
            <a:ext cx="5486400" cy="43434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938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  data engineer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SYSTEMS PRIVATE LIMITED · Bengaluru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job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461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2 of the 3 skills extracted from this posting (Python, SQL)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your preferred role 'Data Analyst' (Data &amp; Analytics)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your preferred location (Bengaluru)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text is similar to your profile (TF-IDF similarity 0.46)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349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scores: skill 0.67 · content 0.46 · role 1.00 · location 1.00 · recency 0.87 · behaviour n/a</a:t>
            </a:r>
            <a:endParaRPr lang="en-US" sz="1300" dirty="0"/>
          </a:p>
        </p:txBody>
      </p:sp>
      <p:sp>
        <p:nvSpPr>
          <p:cNvPr id="13" name="Personalised feed after saving a job frame"/>
          <p:cNvSpPr/>
          <p:nvPr/>
        </p:nvSpPr>
        <p:spPr>
          <a:xfrm>
            <a:off x="6217920" y="1828800"/>
            <a:ext cx="5422392" cy="3421247"/>
          </a:xfrm>
          <a:prstGeom prst="roundRect">
            <a:avLst>
              <a:gd name="adj" fmla="val 2673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ersonalised feed after saving a jo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920240"/>
            <a:ext cx="5239512" cy="32383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17920" y="5341487"/>
            <a:ext cx="5422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6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Save: interaction-informed banner, saved state, new reasons. One API call, about 0.6 s over 3,079 jobs.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evaluate without any users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There is no ground truth yet, so the evaluation uses a clearly labelled offline proxy.</a:t>
            </a:r>
            <a:endParaRPr lang="en-US" sz="1800" dirty="0"/>
          </a:p>
        </p:txBody>
      </p:sp>
      <p:sp>
        <p:nvSpPr>
          <p:cNvPr id="5" name="eval step Persona"/>
          <p:cNvSpPr/>
          <p:nvPr/>
        </p:nvSpPr>
        <p:spPr>
          <a:xfrm>
            <a:off x="548640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tep number 1"/>
          <p:cNvSpPr/>
          <p:nvPr/>
        </p:nvSpPr>
        <p:spPr>
          <a:xfrm>
            <a:off x="1143000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search query, e.g. Data Analyst in Mumbai</a:t>
            </a:r>
            <a:endParaRPr lang="en-US" sz="1300" dirty="0"/>
          </a:p>
        </p:txBody>
      </p:sp>
      <p:sp>
        <p:nvSpPr>
          <p:cNvPr id="10" name="eval arrow 1"/>
          <p:cNvSpPr/>
          <p:nvPr/>
        </p:nvSpPr>
        <p:spPr>
          <a:xfrm>
            <a:off x="2249424" y="3063240"/>
            <a:ext cx="170627" cy="237744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11" name="eval step Relevant set"/>
          <p:cNvSpPr/>
          <p:nvPr/>
        </p:nvSpPr>
        <p:spPr>
          <a:xfrm>
            <a:off x="2429195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tep number 2"/>
          <p:cNvSpPr/>
          <p:nvPr/>
        </p:nvSpPr>
        <p:spPr>
          <a:xfrm>
            <a:off x="3023555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23555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538923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set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538923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Adzuna returned for that query</a:t>
            </a:r>
            <a:endParaRPr lang="en-US" sz="1300" dirty="0"/>
          </a:p>
        </p:txBody>
      </p:sp>
      <p:sp>
        <p:nvSpPr>
          <p:cNvPr id="16" name="eval arrow 2"/>
          <p:cNvSpPr/>
          <p:nvPr/>
        </p:nvSpPr>
        <p:spPr>
          <a:xfrm>
            <a:off x="4129979" y="3063240"/>
            <a:ext cx="170627" cy="237744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17" name="eval step Split"/>
          <p:cNvSpPr/>
          <p:nvPr/>
        </p:nvSpPr>
        <p:spPr>
          <a:xfrm>
            <a:off x="4309750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tep number 3"/>
          <p:cNvSpPr/>
          <p:nvPr/>
        </p:nvSpPr>
        <p:spPr>
          <a:xfrm>
            <a:off x="4904110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0411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419478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419478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= seed history, half = hidden labels</a:t>
            </a:r>
            <a:endParaRPr lang="en-US" sz="1300" dirty="0"/>
          </a:p>
        </p:txBody>
      </p:sp>
      <p:sp>
        <p:nvSpPr>
          <p:cNvPr id="22" name="eval arrow 3"/>
          <p:cNvSpPr/>
          <p:nvPr/>
        </p:nvSpPr>
        <p:spPr>
          <a:xfrm>
            <a:off x="6010534" y="3063240"/>
            <a:ext cx="170627" cy="237744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23" name="eval step Profile"/>
          <p:cNvSpPr/>
          <p:nvPr/>
        </p:nvSpPr>
        <p:spPr>
          <a:xfrm>
            <a:off x="6190305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tep number 4"/>
          <p:cNvSpPr/>
          <p:nvPr/>
        </p:nvSpPr>
        <p:spPr>
          <a:xfrm>
            <a:off x="6784665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784665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00033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300033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seed jobs only, by a fixed rule</a:t>
            </a:r>
            <a:endParaRPr lang="en-US" sz="1300" dirty="0"/>
          </a:p>
        </p:txBody>
      </p:sp>
      <p:sp>
        <p:nvSpPr>
          <p:cNvPr id="28" name="eval arrow 4"/>
          <p:cNvSpPr/>
          <p:nvPr/>
        </p:nvSpPr>
        <p:spPr>
          <a:xfrm>
            <a:off x="7891089" y="3063240"/>
            <a:ext cx="170627" cy="237744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29" name="eval step Rank"/>
          <p:cNvSpPr/>
          <p:nvPr/>
        </p:nvSpPr>
        <p:spPr>
          <a:xfrm>
            <a:off x="8070860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tep number 5"/>
          <p:cNvSpPr/>
          <p:nvPr/>
        </p:nvSpPr>
        <p:spPr>
          <a:xfrm>
            <a:off x="8665220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652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180588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180588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strategy ranks the remaining jobs</a:t>
            </a:r>
            <a:endParaRPr lang="en-US" sz="1300" dirty="0"/>
          </a:p>
        </p:txBody>
      </p:sp>
      <p:sp>
        <p:nvSpPr>
          <p:cNvPr id="34" name="eval arrow 5"/>
          <p:cNvSpPr/>
          <p:nvPr/>
        </p:nvSpPr>
        <p:spPr>
          <a:xfrm>
            <a:off x="9771644" y="3063240"/>
            <a:ext cx="170627" cy="237744"/>
          </a:xfrm>
          <a:prstGeom prst="rightArrow">
            <a:avLst/>
          </a:prstGeom>
          <a:solidFill>
            <a:srgbClr val="62668A"/>
          </a:solidFill>
          <a:ln w="6350">
            <a:solidFill>
              <a:srgbClr val="62668A"/>
            </a:solidFill>
            <a:prstDash val="solid"/>
          </a:ln>
        </p:spPr>
      </p:sp>
      <p:sp>
        <p:nvSpPr>
          <p:cNvPr id="35" name="eval step Score"/>
          <p:cNvSpPr/>
          <p:nvPr/>
        </p:nvSpPr>
        <p:spPr>
          <a:xfrm>
            <a:off x="9951415" y="1920240"/>
            <a:ext cx="1691640" cy="256032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tep number 6"/>
          <p:cNvSpPr/>
          <p:nvPr/>
        </p:nvSpPr>
        <p:spPr>
          <a:xfrm>
            <a:off x="10545775" y="2084832"/>
            <a:ext cx="502920" cy="502920"/>
          </a:xfrm>
          <a:prstGeom prst="ellipse">
            <a:avLst/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545775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10061143" y="27432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10061143" y="315468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NDCG@K, diversity; random floor</a:t>
            </a:r>
            <a:endParaRPr lang="en-US" sz="1300" dirty="0"/>
          </a:p>
        </p:txBody>
      </p:sp>
      <p:sp>
        <p:nvSpPr>
          <p:cNvPr id="40" name="winner rule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9E8FB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2960" y="4800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Winner rule, fixed before running and never changed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" y="521208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winner needs: the highest mean NDCG@10, ahead in every persona, and a 95% bootstrap interval of its lead over the runner-up that excludes zero. Otherwise: no clear winner. This is not user feedback.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Hybrid leads, but no overall winner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Mean NDCG@10. Scenario A = role + city persona, B = role only.</a:t>
            </a:r>
            <a:endParaRPr lang="en-US" sz="1800" dirty="0"/>
          </a:p>
        </p:txBody>
      </p:sp>
      <p:sp>
        <p:nvSpPr>
          <p:cNvPr id="5" name="results card Run 1: original, 75 jobs"/>
          <p:cNvSpPr/>
          <p:nvPr/>
        </p:nvSpPr>
        <p:spPr>
          <a:xfrm>
            <a:off x="548640" y="1783080"/>
            <a:ext cx="542239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856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original, 75 jobs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48840"/>
          <a:ext cx="523951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results card Run 2: live, 2,118 jobs"/>
          <p:cNvSpPr/>
          <p:nvPr/>
        </p:nvSpPr>
        <p:spPr>
          <a:xfrm>
            <a:off x="6217920" y="1783080"/>
            <a:ext cx="542239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6400800" y="1856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live, 2,118 jobs</a:t>
            </a:r>
            <a:endParaRPr lang="en-US" sz="15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148840"/>
          <a:ext cx="523951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un 1 verdict"/>
          <p:cNvSpPr/>
          <p:nvPr/>
        </p:nvSpPr>
        <p:spPr>
          <a:xfrm>
            <a:off x="548640" y="5166360"/>
            <a:ext cx="5422392" cy="1097280"/>
          </a:xfrm>
          <a:prstGeom prst="roundRect">
            <a:avLst>
              <a:gd name="adj" fmla="val 8333"/>
            </a:avLst>
          </a:prstGeom>
          <a:solidFill>
            <a:srgbClr val="E9E8FB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7"/>
          <p:cNvSpPr txBox="1"/>
          <p:nvPr/>
        </p:nvSpPr>
        <p:spPr>
          <a:xfrm>
            <a:off x="731520" y="5166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1: Hybrid is the clear winner in B. In A it has the best mean but trails Popularity on 1 of 4 personas: no clear winner.</a:t>
            </a:r>
            <a:endParaRPr lang="en-US" sz="1400" dirty="0"/>
          </a:p>
        </p:txBody>
      </p:sp>
      <p:sp>
        <p:nvSpPr>
          <p:cNvPr id="13" name="run 2 verdict"/>
          <p:cNvSpPr/>
          <p:nvPr/>
        </p:nvSpPr>
        <p:spPr>
          <a:xfrm>
            <a:off x="6217920" y="5166360"/>
            <a:ext cx="5422392" cy="1097280"/>
          </a:xfrm>
          <a:prstGeom prst="roundRect">
            <a:avLst>
              <a:gd name="adj" fmla="val 8333"/>
            </a:avLst>
          </a:prstGeom>
          <a:solidFill>
            <a:srgbClr val="E9E8FB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6400800" y="5166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2: Hybrid leads Content by +0.34 (A, CI 0.32 to 0.36) and +0.07 (B), best in 46/48 and 8/12 personas, not all: no overall winner.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evidence supports, and what comes next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13385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Say the limits before being asked.</a:t>
            </a:r>
            <a:endParaRPr lang="en-US" sz="1800" dirty="0"/>
          </a:p>
        </p:txBody>
      </p:sp>
      <p:sp>
        <p:nvSpPr>
          <p:cNvPr id="5" name="column Supported"/>
          <p:cNvSpPr/>
          <p:nvPr/>
        </p:nvSpPr>
        <p:spPr>
          <a:xfrm>
            <a:off x="548640" y="1828800"/>
            <a:ext cx="3593592" cy="402336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pill Supported"/>
          <p:cNvSpPr/>
          <p:nvPr/>
        </p:nvSpPr>
        <p:spPr>
          <a:xfrm>
            <a:off x="777240" y="20116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Hybrid, Content (and Skills on run 1) beat random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performs at or near random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wins the role-only scenario of run 1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real, signal-backed reasons</a:t>
            </a:r>
            <a:endParaRPr lang="en-US" sz="1500" dirty="0"/>
          </a:p>
        </p:txBody>
      </p:sp>
      <p:sp>
        <p:nvSpPr>
          <p:cNvPr id="9" name="column Not supported"/>
          <p:cNvSpPr/>
          <p:nvPr/>
        </p:nvSpPr>
        <p:spPr>
          <a:xfrm>
            <a:off x="4297680" y="1828800"/>
            <a:ext cx="3593592" cy="402336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pill Not supported"/>
          <p:cNvSpPr/>
          <p:nvPr/>
        </p:nvSpPr>
        <p:spPr>
          <a:xfrm>
            <a:off x="4526280" y="20116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overall winner under the pre-declared rule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about real users or production accuracy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claim about the behaviour layer: no real users yet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is circular: the query defines persona and label</a:t>
            </a:r>
            <a:endParaRPr lang="en-US" sz="1500" dirty="0"/>
          </a:p>
        </p:txBody>
      </p:sp>
      <p:sp>
        <p:nvSpPr>
          <p:cNvPr id="13" name="column Next steps"/>
          <p:cNvSpPr/>
          <p:nvPr/>
        </p:nvSpPr>
        <p:spPr>
          <a:xfrm>
            <a:off x="8046720" y="1828800"/>
            <a:ext cx="3593592" cy="4023360"/>
          </a:xfrm>
          <a:prstGeom prst="roundRect">
            <a:avLst>
              <a:gd name="adj" fmla="val 2545"/>
            </a:avLst>
          </a:prstGeom>
          <a:solidFill>
            <a:schemeClr val="bg1"/>
          </a:solidFill>
          <a:ln w="9525">
            <a:solidFill>
              <a:srgbClr val="DCE3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pill Next steps"/>
          <p:cNvSpPr/>
          <p:nvPr/>
        </p:nvSpPr>
        <p:spPr>
          <a:xfrm>
            <a:off x="8275320" y="20116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60604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interactions, then evaluate behaviour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weights on real feedback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only if volume justifies it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 vectors for larger corpora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2668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Intel Recommender">
  <a:themeElements>
    <a:clrScheme name="JobIntel Recommender">
      <a:dk1>
        <a:srgbClr val="20203A"/>
      </a:dk1>
      <a:lt1>
        <a:srgbClr val="FFFFFF"/>
      </a:lt1>
      <a:dk2>
        <a:srgbClr val="1E1B4B"/>
      </a:dk2>
      <a:lt2>
        <a:srgbClr val="F1F0FB"/>
      </a:lt2>
      <a:accent1>
        <a:srgbClr val="4F46E5"/>
      </a:accent1>
      <a:accent2>
        <a:srgbClr val="FF6B6B"/>
      </a:accent2>
      <a:accent3>
        <a:srgbClr val="10B981"/>
      </a:accent3>
      <a:accent4>
        <a:srgbClr val="F59E0B"/>
      </a:accent4>
      <a:accent5>
        <a:srgbClr val="8B5CF6"/>
      </a:accent5>
      <a:accent6>
        <a:srgbClr val="62668A"/>
      </a:accent6>
      <a:hlink>
        <a:srgbClr val="4F46E5"/>
      </a:hlink>
      <a:folHlink>
        <a:srgbClr val="62668A"/>
      </a:folHlink>
    </a:clrScheme>
    <a:fontScheme name="JobIntel Recommend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JobIntel: an explainable hybrid job recommender</dc:title>
  <dc:subject>JobIntel · Recommendation Systems</dc:subject>
  <dc:creator>JobIntel project</dc:creator>
  <cp:lastModifiedBy>JobIntel project</cp:lastModifiedBy>
  <cp:revision>1</cp:revision>
  <dcterms:created xsi:type="dcterms:W3CDTF">2026-10-26T12:30:48Z</dcterms:created>
  <dcterms:modified xsi:type="dcterms:W3CDTF">2026-10-26T12:30:48Z</dcterms:modified>
</cp:coreProperties>
</file>